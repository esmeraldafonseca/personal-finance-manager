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mover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diaposit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ivo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</a:t>
            </a: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o formato </a:t>
            </a: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 notas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DA2B6E-6140-4115-B121-24F75F25A69E}" type="slidenum"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131AF4-F4D0-4ECC-AAB0-EAD12C37A54F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E390C7-6D8B-43A2-9A6C-424909A20E8B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EC6872-1DD1-43A9-8FB0-793C82083943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A71C1C-2BF1-476D-97A2-F6E07BFECE47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90DEC8-F478-4897-8F48-51D7399159C8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F7EC21-FA6A-4593-A00E-F7CA719407B9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B6CD51-178C-44E3-A19D-4950ED69BD45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0B5F14-0820-4B45-88A6-3E78504E913C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9B02F3-F6D4-4EF1-AFA0-CE176635D7CD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FAE561-3E8B-47C7-9206-E4DE4CC3651E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D28D19-E466-4C92-B834-6198A655DAFA}" type="slidenum">
              <a:rPr lang="pt-P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o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</a:t>
            </a:r>
            <a:r>
              <a:rPr lang="pt-P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título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22960" y="822960"/>
            <a:ext cx="1004400" cy="1004400"/>
          </a:xfrm>
          <a:prstGeom prst="roundRect">
            <a:avLst>
              <a:gd name="adj" fmla="val 20000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822960"/>
            <a:ext cx="10044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PFM</a:t>
            </a:r>
            <a:endParaRPr lang="pt-PT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2651760"/>
            <a:ext cx="105141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Personal Finance Manager</a:t>
            </a:r>
            <a:endParaRPr lang="pt-PT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3493080"/>
            <a:ext cx="10514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Sistema de Gestão de Finanças Pessoais </a:t>
            </a:r>
            <a:endParaRPr lang="pt-PT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22960" y="5349240"/>
            <a:ext cx="3840480" cy="360"/>
          </a:xfrm>
          <a:prstGeom prst="line">
            <a:avLst/>
          </a:prstGeom>
          <a:ln w="19050">
            <a:solidFill>
              <a:srgbClr val="1f6f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5486400"/>
            <a:ext cx="5484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Esmeralda Fonseca</a:t>
            </a:r>
            <a:endParaRPr lang="pt-P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5852160"/>
            <a:ext cx="5484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Orientação: Prof. Eng. Sebilson Cristovão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1f6f63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Introdução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40080" y="1691640"/>
            <a:ext cx="639936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A gestão das finanças pessoais é uma prática essencial para o equilíbrio financeiro de qualquer pessoa. No entanto, muitas pessoas ainda recorrem a métodos manuais ou pouco estruturados para registar as suas receitas e despesas, o que dificulta uma visão clara e organizada da sua situação financeira.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40080" y="3337560"/>
            <a:ext cx="639936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pt-PT" sz="14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Este projeto insere-se no âmbito académico, sob orientação do Prof. Eng. Sebilson Cristóvão, com o objetivo de aplicar de forma prática conceitos de programação orientada a objetos, bases de dados e desenvolvimento de interfaces gráficas, através da criação de uma aplicação de gestão financeira pessoal.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7589520" y="1691640"/>
            <a:ext cx="3930480" cy="3747600"/>
          </a:xfrm>
          <a:prstGeom prst="roundRect">
            <a:avLst>
              <a:gd name="adj" fmla="val 2927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7909560" y="1965960"/>
            <a:ext cx="3290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Neste projeto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7955280" y="2633400"/>
            <a:ext cx="90000" cy="90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8183880" y="2487240"/>
            <a:ext cx="3198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20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Aplicação desktop em Python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7955280" y="3182040"/>
            <a:ext cx="90000" cy="90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8183880" y="3035880"/>
            <a:ext cx="3198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Interface gráfica com Flet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7955280" y="3730680"/>
            <a:ext cx="90000" cy="90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8183880" y="3584520"/>
            <a:ext cx="3198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Base de dados local em SQLite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7955280" y="4279320"/>
            <a:ext cx="90000" cy="90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8183880" y="4133160"/>
            <a:ext cx="3198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Gráficos financeiros com Matplotlib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2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4caf87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Problemática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640080" y="1703160"/>
            <a:ext cx="5256360" cy="1598760"/>
          </a:xfrm>
          <a:prstGeom prst="roundRect">
            <a:avLst>
              <a:gd name="adj" fmla="val 5714"/>
            </a:avLst>
          </a:prstGeom>
          <a:solidFill>
            <a:srgbClr val="133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640080" y="1703160"/>
            <a:ext cx="455760" cy="455760"/>
          </a:xfrm>
          <a:prstGeom prst="roundRect">
            <a:avLst>
              <a:gd name="adj" fmla="val 22000"/>
            </a:avLst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896040" y="197496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896040" y="256032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896040" y="2907720"/>
            <a:ext cx="475344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6203160" y="1737360"/>
            <a:ext cx="5256360" cy="1598760"/>
          </a:xfrm>
          <a:prstGeom prst="roundRect">
            <a:avLst>
              <a:gd name="adj" fmla="val 5714"/>
            </a:avLst>
          </a:prstGeom>
          <a:solidFill>
            <a:srgbClr val="133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6203160" y="1737360"/>
            <a:ext cx="455760" cy="455760"/>
          </a:xfrm>
          <a:prstGeom prst="roundRect">
            <a:avLst>
              <a:gd name="adj" fmla="val 22000"/>
            </a:avLst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6428160" y="197496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6428160" y="256032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6428160" y="2547720"/>
            <a:ext cx="47534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Registos em papel, folhas de cálculo dispersas ou complexas, difíceis de manter atualizados.</a:t>
            </a:r>
            <a:endParaRPr lang="pt-PT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2"/>
          <p:cNvSpPr/>
          <p:nvPr/>
        </p:nvSpPr>
        <p:spPr>
          <a:xfrm>
            <a:off x="640080" y="3611880"/>
            <a:ext cx="5256360" cy="1598760"/>
          </a:xfrm>
          <a:prstGeom prst="roundRect">
            <a:avLst>
              <a:gd name="adj" fmla="val 5714"/>
            </a:avLst>
          </a:prstGeom>
          <a:solidFill>
            <a:srgbClr val="133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640080" y="3611880"/>
            <a:ext cx="455760" cy="455760"/>
          </a:xfrm>
          <a:prstGeom prst="roundRect">
            <a:avLst>
              <a:gd name="adj" fmla="val 22000"/>
            </a:avLst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3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896040" y="384948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1096920" y="370332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Ausência de visualização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896040" y="4782240"/>
            <a:ext cx="47534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7"/>
          <p:cNvSpPr/>
          <p:nvPr/>
        </p:nvSpPr>
        <p:spPr>
          <a:xfrm>
            <a:off x="6172200" y="3600000"/>
            <a:ext cx="5256360" cy="1598760"/>
          </a:xfrm>
          <a:prstGeom prst="roundRect">
            <a:avLst>
              <a:gd name="adj" fmla="val 5714"/>
            </a:avLst>
          </a:prstGeom>
          <a:solidFill>
            <a:srgbClr val="133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8"/>
          <p:cNvSpPr/>
          <p:nvPr/>
        </p:nvSpPr>
        <p:spPr>
          <a:xfrm>
            <a:off x="6172200" y="3625560"/>
            <a:ext cx="455760" cy="455760"/>
          </a:xfrm>
          <a:prstGeom prst="roundRect">
            <a:avLst>
              <a:gd name="adj" fmla="val 22000"/>
            </a:avLst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4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6428160" y="384948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6765480" y="360000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Histórico pouco acessível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6428160" y="4782240"/>
            <a:ext cx="475344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3</a:t>
            </a:r>
            <a:endParaRPr lang="pt-P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40080" y="1737360"/>
            <a:ext cx="4388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 1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300000" y="1737360"/>
            <a:ext cx="2955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2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194120" y="1713960"/>
            <a:ext cx="16848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Falta de controlo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-6120000" y="4038840"/>
            <a:ext cx="58993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.</a:t>
            </a:r>
            <a:endParaRPr lang="pt-PT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40080" y="2443320"/>
            <a:ext cx="5256360" cy="8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-1440000" y="2789640"/>
            <a:ext cx="5396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060000" y="-450000"/>
            <a:ext cx="53964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40080" y="2418840"/>
            <a:ext cx="52563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PT" sz="11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Muitas quanto ou onde gastam o seu dinheiro todos os meses, e há casos onde não sabem sequer o quanto ganham.</a:t>
            </a:r>
            <a:endParaRPr lang="pt-PT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840000" y="1800000"/>
            <a:ext cx="23083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Métodos pouco práticos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234120" y="4500000"/>
            <a:ext cx="51944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Dificuldade em pesquisar ou filtrar movimentações antigas de forma rápida.</a:t>
            </a:r>
            <a:endParaRPr lang="pt-PT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20000" y="4398840"/>
            <a:ext cx="51944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Dificuldade em pesquisar ou filtrar movimentações antigas de forma rápida ou ate mesmo de visualizar as transações de forma mais concreta.</a:t>
            </a:r>
            <a:endParaRPr lang="pt-PT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6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Objetivo Geral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1280160" y="2468880"/>
            <a:ext cx="9599760" cy="219312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1737360" y="2697480"/>
            <a:ext cx="868536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Desenvolver uma aplicação desktop em Python, com interface gráfica em Flet e base de dados local em SQLite, que permita a gestão simples e visual das finanças pessoais do utilizador.</a:t>
            </a:r>
            <a:endParaRPr lang="pt-PT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900" b="0" u="none" strike="noStrike">
                <a:solidFill>
                  <a:srgbClr val="5f6b6a"/>
                </a:solidFill>
                <a:effectLst/>
                <a:highlight>
                  <a:srgbClr val="5983b0"/>
                </a:highlight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ffffff"/>
              </a:solidFill>
              <a:effectLst/>
              <a:highlight>
                <a:srgbClr val="5983b0"/>
              </a:highlight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4</a:t>
            </a:r>
            <a:endParaRPr lang="pt-P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1f6f63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Objetivos Específicos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640080" y="1691640"/>
            <a:ext cx="3519000" cy="1964520"/>
          </a:xfrm>
          <a:prstGeom prst="roundRect">
            <a:avLst>
              <a:gd name="adj" fmla="val 465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868680" y="1920240"/>
            <a:ext cx="364320" cy="364320"/>
          </a:xfrm>
          <a:prstGeom prst="roundRect">
            <a:avLst>
              <a:gd name="adj" fmla="val 22500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868680" y="1920240"/>
            <a:ext cx="364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1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868680" y="2404800"/>
            <a:ext cx="3061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Registar movimentos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68680" y="2743200"/>
            <a:ext cx="3061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pt-PT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Adicionar, editar e remover receitas e despesas de forma validada.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4389120" y="1691640"/>
            <a:ext cx="3519000" cy="1964520"/>
          </a:xfrm>
          <a:prstGeom prst="roundRect">
            <a:avLst>
              <a:gd name="adj" fmla="val 465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4617720" y="1920240"/>
            <a:ext cx="364320" cy="364320"/>
          </a:xfrm>
          <a:prstGeom prst="roundRect">
            <a:avLst>
              <a:gd name="adj" fmla="val 22500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4617720" y="1920240"/>
            <a:ext cx="364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2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4617720" y="2404800"/>
            <a:ext cx="3061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Persistir os dados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4617720" y="2743200"/>
            <a:ext cx="3061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Armazenar todos os movimentos numa base de dados SQLite local.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8138160" y="1691640"/>
            <a:ext cx="3519000" cy="1964520"/>
          </a:xfrm>
          <a:prstGeom prst="roundRect">
            <a:avLst>
              <a:gd name="adj" fmla="val 465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3"/>
          <p:cNvSpPr/>
          <p:nvPr/>
        </p:nvSpPr>
        <p:spPr>
          <a:xfrm>
            <a:off x="8366760" y="1920240"/>
            <a:ext cx="364320" cy="364320"/>
          </a:xfrm>
          <a:prstGeom prst="roundRect">
            <a:avLst>
              <a:gd name="adj" fmla="val 22500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8366760" y="1920240"/>
            <a:ext cx="364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3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8366760" y="2404800"/>
            <a:ext cx="3061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Gerar relatórios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8366760" y="2743200"/>
            <a:ext cx="3061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Calcular totais mensais, saldo, maior receita/despesa e categoria mais gasta.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7"/>
          <p:cNvSpPr/>
          <p:nvPr/>
        </p:nvSpPr>
        <p:spPr>
          <a:xfrm>
            <a:off x="640080" y="3886200"/>
            <a:ext cx="3519000" cy="1964520"/>
          </a:xfrm>
          <a:prstGeom prst="roundRect">
            <a:avLst>
              <a:gd name="adj" fmla="val 465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8"/>
          <p:cNvSpPr/>
          <p:nvPr/>
        </p:nvSpPr>
        <p:spPr>
          <a:xfrm>
            <a:off x="868680" y="4114800"/>
            <a:ext cx="364320" cy="364320"/>
          </a:xfrm>
          <a:prstGeom prst="roundRect">
            <a:avLst>
              <a:gd name="adj" fmla="val 22500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868680" y="4114800"/>
            <a:ext cx="364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4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868680" y="4599360"/>
            <a:ext cx="3061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Visualizar graficamente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1"/>
          <p:cNvSpPr/>
          <p:nvPr/>
        </p:nvSpPr>
        <p:spPr>
          <a:xfrm>
            <a:off x="868680" y="4937760"/>
            <a:ext cx="3061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Apresentar gráficos de receitas vs despesas e distribuição por categoria.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2"/>
          <p:cNvSpPr/>
          <p:nvPr/>
        </p:nvSpPr>
        <p:spPr>
          <a:xfrm>
            <a:off x="4389120" y="3886200"/>
            <a:ext cx="3519000" cy="1964520"/>
          </a:xfrm>
          <a:prstGeom prst="roundRect">
            <a:avLst>
              <a:gd name="adj" fmla="val 465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3"/>
          <p:cNvSpPr/>
          <p:nvPr/>
        </p:nvSpPr>
        <p:spPr>
          <a:xfrm>
            <a:off x="4617720" y="4114800"/>
            <a:ext cx="364320" cy="364320"/>
          </a:xfrm>
          <a:prstGeom prst="roundRect">
            <a:avLst>
              <a:gd name="adj" fmla="val 22500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4617720" y="4114800"/>
            <a:ext cx="364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5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4617720" y="4599360"/>
            <a:ext cx="3061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Pesquisar e filtrar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4617720" y="4937760"/>
            <a:ext cx="3061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Localizar movimentações por descrição, tipo, categoria ou período.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7"/>
          <p:cNvSpPr/>
          <p:nvPr/>
        </p:nvSpPr>
        <p:spPr>
          <a:xfrm>
            <a:off x="8138160" y="3886200"/>
            <a:ext cx="3519000" cy="1964520"/>
          </a:xfrm>
          <a:prstGeom prst="roundRect">
            <a:avLst>
              <a:gd name="adj" fmla="val 465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8"/>
          <p:cNvSpPr/>
          <p:nvPr/>
        </p:nvSpPr>
        <p:spPr>
          <a:xfrm>
            <a:off x="8366760" y="4114800"/>
            <a:ext cx="364320" cy="364320"/>
          </a:xfrm>
          <a:prstGeom prst="roundRect">
            <a:avLst>
              <a:gd name="adj" fmla="val 22500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9"/>
          <p:cNvSpPr/>
          <p:nvPr/>
        </p:nvSpPr>
        <p:spPr>
          <a:xfrm>
            <a:off x="8366760" y="4114800"/>
            <a:ext cx="364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6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0"/>
          <p:cNvSpPr/>
          <p:nvPr/>
        </p:nvSpPr>
        <p:spPr>
          <a:xfrm>
            <a:off x="8366760" y="4599360"/>
            <a:ext cx="3061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Visualizar relatorio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1"/>
          <p:cNvSpPr/>
          <p:nvPr/>
        </p:nvSpPr>
        <p:spPr>
          <a:xfrm>
            <a:off x="8366760" y="4937760"/>
            <a:ext cx="30618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Visualização do relatorio mensal em um texto de facil compreensão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2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3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5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1f6f63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Solução Proposta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640080" y="1417320"/>
            <a:ext cx="7313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Arquitetura em camadas: dados primeiro, interface por último.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640080" y="1965960"/>
            <a:ext cx="6307920" cy="657000"/>
          </a:xfrm>
          <a:prstGeom prst="roundRect">
            <a:avLst>
              <a:gd name="adj" fmla="val 12500"/>
            </a:avLst>
          </a:prstGeom>
          <a:solidFill>
            <a:srgbClr val="0d2b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868680" y="1965960"/>
            <a:ext cx="173592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Database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2606040" y="1965960"/>
            <a:ext cx="4204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Ligação SQLite e criação da tabela 'movimentos'.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6"/>
          <p:cNvSpPr/>
          <p:nvPr/>
        </p:nvSpPr>
        <p:spPr>
          <a:xfrm>
            <a:off x="640080" y="2752200"/>
            <a:ext cx="6307920" cy="657000"/>
          </a:xfrm>
          <a:prstGeom prst="roundRect">
            <a:avLst>
              <a:gd name="adj" fmla="val 12500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868680" y="2752200"/>
            <a:ext cx="173592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Transaction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2606040" y="2752200"/>
            <a:ext cx="4204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Dataclass com validação e mapeamento de dados.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640080" y="3538800"/>
            <a:ext cx="6307920" cy="657000"/>
          </a:xfrm>
          <a:prstGeom prst="roundRect">
            <a:avLst>
              <a:gd name="adj" fmla="val 12500"/>
            </a:avLst>
          </a:prstGeom>
          <a:solidFill>
            <a:srgbClr val="4ca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868680" y="3538800"/>
            <a:ext cx="173592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Repository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2606040" y="3538800"/>
            <a:ext cx="4204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CRUD, pesquisa, filtros e agregações em SQL.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640080" y="4325040"/>
            <a:ext cx="6307920" cy="657000"/>
          </a:xfrm>
          <a:prstGeom prst="roundRect">
            <a:avLst>
              <a:gd name="adj" fmla="val 12500"/>
            </a:avLst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868680" y="4325040"/>
            <a:ext cx="173592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Service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2606040" y="4325040"/>
            <a:ext cx="4204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Regras de negócio: relatório mensal, cálculos.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640080" y="5111640"/>
            <a:ext cx="6307920" cy="657000"/>
          </a:xfrm>
          <a:prstGeom prst="roundRect">
            <a:avLst>
              <a:gd name="adj" fmla="val 12500"/>
            </a:avLst>
          </a:prstGeom>
          <a:solidFill>
            <a:srgbClr val="8fd9b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868680" y="5111640"/>
            <a:ext cx="173592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Views (Flet)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2606040" y="5111640"/>
            <a:ext cx="42048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Ecrãs: dashboard, movimentações, gráficos.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8"/>
          <p:cNvSpPr/>
          <p:nvPr/>
        </p:nvSpPr>
        <p:spPr>
          <a:xfrm>
            <a:off x="7315200" y="1965960"/>
            <a:ext cx="4204800" cy="42048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7589520" y="2212920"/>
            <a:ext cx="3656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Principais funcionalidades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0"/>
          <p:cNvSpPr/>
          <p:nvPr/>
        </p:nvSpPr>
        <p:spPr>
          <a:xfrm>
            <a:off x="7635240" y="2807280"/>
            <a:ext cx="81000" cy="81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1"/>
          <p:cNvSpPr/>
          <p:nvPr/>
        </p:nvSpPr>
        <p:spPr>
          <a:xfrm>
            <a:off x="7845480" y="2651760"/>
            <a:ext cx="3564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Dashboard com resumo mensal</a:t>
            </a:r>
            <a:endParaRPr lang="pt-P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2"/>
          <p:cNvSpPr/>
          <p:nvPr/>
        </p:nvSpPr>
        <p:spPr>
          <a:xfrm>
            <a:off x="7635240" y="3310200"/>
            <a:ext cx="81000" cy="81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3"/>
          <p:cNvSpPr/>
          <p:nvPr/>
        </p:nvSpPr>
        <p:spPr>
          <a:xfrm>
            <a:off x="7845480" y="3154680"/>
            <a:ext cx="3564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Registo, edição e remoção de movimentos</a:t>
            </a:r>
            <a:endParaRPr lang="pt-P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4"/>
          <p:cNvSpPr/>
          <p:nvPr/>
        </p:nvSpPr>
        <p:spPr>
          <a:xfrm>
            <a:off x="7635240" y="3813120"/>
            <a:ext cx="81000" cy="81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5"/>
          <p:cNvSpPr/>
          <p:nvPr/>
        </p:nvSpPr>
        <p:spPr>
          <a:xfrm>
            <a:off x="7845480" y="3657600"/>
            <a:ext cx="3564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Relatório mensal detalhado</a:t>
            </a:r>
            <a:endParaRPr lang="pt-P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6"/>
          <p:cNvSpPr/>
          <p:nvPr/>
        </p:nvSpPr>
        <p:spPr>
          <a:xfrm>
            <a:off x="7635240" y="4316040"/>
            <a:ext cx="81000" cy="81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7"/>
          <p:cNvSpPr/>
          <p:nvPr/>
        </p:nvSpPr>
        <p:spPr>
          <a:xfrm>
            <a:off x="7845480" y="4160520"/>
            <a:ext cx="3564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15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Gráficos de receitas e despesas </a:t>
            </a:r>
            <a:endParaRPr lang="pt-P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8"/>
          <p:cNvSpPr/>
          <p:nvPr/>
        </p:nvSpPr>
        <p:spPr>
          <a:xfrm>
            <a:off x="7635240" y="4818960"/>
            <a:ext cx="81000" cy="81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9"/>
          <p:cNvSpPr/>
          <p:nvPr/>
        </p:nvSpPr>
        <p:spPr>
          <a:xfrm>
            <a:off x="7845480" y="4663440"/>
            <a:ext cx="3564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150" b="0" u="none" strike="noStrike">
                <a:solidFill>
                  <a:srgbClr val="0d2b2e"/>
                </a:solidFill>
                <a:effectLst/>
                <a:uFillTx/>
                <a:latin typeface="Inter"/>
                <a:ea typeface="Inter"/>
              </a:rPr>
              <a:t>Pesquisa por descrição</a:t>
            </a:r>
            <a:endParaRPr lang="pt-P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0"/>
          <p:cNvSpPr/>
          <p:nvPr/>
        </p:nvSpPr>
        <p:spPr>
          <a:xfrm>
            <a:off x="7635240" y="5321880"/>
            <a:ext cx="81000" cy="81000"/>
          </a:xfr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1"/>
          <p:cNvSpPr/>
          <p:nvPr/>
        </p:nvSpPr>
        <p:spPr>
          <a:xfrm>
            <a:off x="7845480" y="5166360"/>
            <a:ext cx="3564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2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3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6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1f6f63"/>
                </a:solidFill>
                <a:effectLst/>
                <a:uFillTx/>
                <a:latin typeface="Inter"/>
                <a:ea typeface="Inter"/>
              </a:rPr>
              <a:t>06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Tecnologias Utilizadas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640080" y="1737360"/>
            <a:ext cx="2604600" cy="29246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960120" y="2057400"/>
            <a:ext cx="638640" cy="638640"/>
          </a:xfrm>
          <a:prstGeom prst="roundRect">
            <a:avLst>
              <a:gd name="adj" fmla="val 22857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914400" y="2926080"/>
            <a:ext cx="2055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Python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914400" y="3291840"/>
            <a:ext cx="20559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Linguagem base de todo o sistema, orientação a objetos e dataclasses.</a:t>
            </a:r>
            <a:endParaRPr lang="pt-P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3474720" y="1737360"/>
            <a:ext cx="2604600" cy="29246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3794760" y="2057400"/>
            <a:ext cx="638640" cy="638640"/>
          </a:xfrm>
          <a:prstGeom prst="roundRect">
            <a:avLst>
              <a:gd name="adj" fmla="val 22857"/>
            </a:avLst>
          </a:prstGeom>
          <a:solidFill>
            <a:srgbClr val="4ca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3749040" y="2926080"/>
            <a:ext cx="2055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Flet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3749040" y="3291840"/>
            <a:ext cx="20559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Framework para a interface gráfica de secretária, em Python puro.</a:t>
            </a:r>
            <a:endParaRPr lang="pt-P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6309360" y="1737360"/>
            <a:ext cx="2604600" cy="29246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6629400" y="2057400"/>
            <a:ext cx="638640" cy="638640"/>
          </a:xfrm>
          <a:prstGeom prst="roundRect">
            <a:avLst>
              <a:gd name="adj" fmla="val 22857"/>
            </a:avLst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6583680" y="2926080"/>
            <a:ext cx="2055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SQLite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6583680" y="3291840"/>
            <a:ext cx="20559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Base de dados relacional local, sem servidor externo.</a:t>
            </a:r>
            <a:endParaRPr lang="pt-P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9144000" y="1737360"/>
            <a:ext cx="2604600" cy="29246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9464040" y="2057400"/>
            <a:ext cx="638640" cy="638640"/>
          </a:xfrm>
          <a:prstGeom prst="roundRect">
            <a:avLst>
              <a:gd name="adj" fmla="val 22857"/>
            </a:avLst>
          </a:prstGeom>
          <a:solidFill>
            <a:srgbClr val="1f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9418320" y="2926080"/>
            <a:ext cx="2055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Matplotlib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9418320" y="3291840"/>
            <a:ext cx="20559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Geração dos gráficos financeiros (barras e circular).</a:t>
            </a:r>
            <a:endParaRPr lang="pt-P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8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7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28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200" b="1" u="none" spc="99" strike="noStrike">
                <a:solidFill>
                  <a:srgbClr val="1f6f63"/>
                </a:solidFill>
                <a:effectLst/>
                <a:uFillTx/>
                <a:latin typeface="Inter"/>
                <a:ea typeface="Inter"/>
              </a:rPr>
              <a:t>07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4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28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Perspetivas Futuras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5"/>
          <p:cNvSpPr/>
          <p:nvPr/>
        </p:nvSpPr>
        <p:spPr>
          <a:xfrm>
            <a:off x="640080" y="1417320"/>
            <a:ext cx="7313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2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Melhorias identificadas e documentadas para depois do MVP.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1"/>
          <p:cNvSpPr/>
          <p:nvPr/>
        </p:nvSpPr>
        <p:spPr>
          <a:xfrm>
            <a:off x="640080" y="1965960"/>
            <a:ext cx="2604600" cy="3244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6"/>
          <p:cNvSpPr/>
          <p:nvPr/>
        </p:nvSpPr>
        <p:spPr>
          <a:xfrm>
            <a:off x="868680" y="2148840"/>
            <a:ext cx="1370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2400" b="1" u="none" strike="noStrike">
                <a:solidFill>
                  <a:srgbClr val="bfe3d1"/>
                </a:solidFill>
                <a:effectLst/>
                <a:uFillTx/>
                <a:latin typeface="Poppins"/>
                <a:ea typeface="Poppins"/>
              </a:rPr>
              <a:t>01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7"/>
          <p:cNvSpPr/>
          <p:nvPr/>
        </p:nvSpPr>
        <p:spPr>
          <a:xfrm>
            <a:off x="868680" y="2697480"/>
            <a:ext cx="2147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Concluir as Views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8"/>
          <p:cNvSpPr/>
          <p:nvPr/>
        </p:nvSpPr>
        <p:spPr>
          <a:xfrm>
            <a:off x="868680" y="3154680"/>
            <a:ext cx="2147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pt-PT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Finalizar todos os ecrãs em Flet, ligados à lógica de negócio já pronta.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2"/>
          <p:cNvSpPr/>
          <p:nvPr/>
        </p:nvSpPr>
        <p:spPr>
          <a:xfrm>
            <a:off x="3474720" y="1965960"/>
            <a:ext cx="2604600" cy="3244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9"/>
          <p:cNvSpPr/>
          <p:nvPr/>
        </p:nvSpPr>
        <p:spPr>
          <a:xfrm>
            <a:off x="3703320" y="2148840"/>
            <a:ext cx="1370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2400" b="1" u="none" strike="noStrike">
                <a:solidFill>
                  <a:srgbClr val="bfe3d1"/>
                </a:solidFill>
                <a:effectLst/>
                <a:uFillTx/>
                <a:latin typeface="Poppins"/>
                <a:ea typeface="Poppins"/>
              </a:rPr>
              <a:t>02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0"/>
          <p:cNvSpPr/>
          <p:nvPr/>
        </p:nvSpPr>
        <p:spPr>
          <a:xfrm>
            <a:off x="3703320" y="2697480"/>
            <a:ext cx="2147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Normalizar Categorias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1"/>
          <p:cNvSpPr/>
          <p:nvPr/>
        </p:nvSpPr>
        <p:spPr>
          <a:xfrm>
            <a:off x="3703320" y="3154680"/>
            <a:ext cx="2147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pt-PT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Criar tabela 'categorias' própria, com chave estrangeira e JOIN.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3"/>
          <p:cNvSpPr/>
          <p:nvPr/>
        </p:nvSpPr>
        <p:spPr>
          <a:xfrm>
            <a:off x="6309360" y="1965960"/>
            <a:ext cx="2604600" cy="3244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2"/>
          <p:cNvSpPr/>
          <p:nvPr/>
        </p:nvSpPr>
        <p:spPr>
          <a:xfrm>
            <a:off x="6537960" y="2148840"/>
            <a:ext cx="1370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2400" b="1" u="none" strike="noStrike">
                <a:solidFill>
                  <a:srgbClr val="bfe3d1"/>
                </a:solidFill>
                <a:effectLst/>
                <a:uFillTx/>
                <a:latin typeface="Poppins"/>
                <a:ea typeface="Poppins"/>
              </a:rPr>
              <a:t>03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63"/>
          <p:cNvSpPr/>
          <p:nvPr/>
        </p:nvSpPr>
        <p:spPr>
          <a:xfrm>
            <a:off x="6537960" y="2697480"/>
            <a:ext cx="2147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Filtro Combinado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4"/>
          <p:cNvSpPr/>
          <p:nvPr/>
        </p:nvSpPr>
        <p:spPr>
          <a:xfrm>
            <a:off x="6537960" y="3154680"/>
            <a:ext cx="2147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pt-PT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Implementar filtro dinâmico por múltiplos critérios em simultâneo.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4"/>
          <p:cNvSpPr/>
          <p:nvPr/>
        </p:nvSpPr>
        <p:spPr>
          <a:xfrm>
            <a:off x="9144000" y="1965960"/>
            <a:ext cx="2604600" cy="3244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5"/>
          <p:cNvSpPr/>
          <p:nvPr/>
        </p:nvSpPr>
        <p:spPr>
          <a:xfrm>
            <a:off x="9372600" y="2148840"/>
            <a:ext cx="1370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2400" b="1" u="none" strike="noStrike">
                <a:solidFill>
                  <a:srgbClr val="bfe3d1"/>
                </a:solidFill>
                <a:effectLst/>
                <a:uFillTx/>
                <a:latin typeface="Poppins"/>
                <a:ea typeface="Poppins"/>
              </a:rPr>
              <a:t>04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6"/>
          <p:cNvSpPr/>
          <p:nvPr/>
        </p:nvSpPr>
        <p:spPr>
          <a:xfrm>
            <a:off x="9372600" y="2697480"/>
            <a:ext cx="21474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Configurações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7"/>
          <p:cNvSpPr/>
          <p:nvPr/>
        </p:nvSpPr>
        <p:spPr>
          <a:xfrm>
            <a:off x="9372600" y="3154680"/>
            <a:ext cx="2147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pt-PT" sz="105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Adicionar um menu configurações que permite fazer alterações na estrutura visual e na apresentação dos dados.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8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9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8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34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200" b="1" u="none" spc="99" strike="noStrike">
                <a:solidFill>
                  <a:srgbClr val="1f6f63"/>
                </a:solidFill>
                <a:effectLst/>
                <a:uFillTx/>
                <a:latin typeface="Inter"/>
                <a:ea typeface="Inter"/>
              </a:rPr>
              <a:t>07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5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28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Demonstração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 rot="5429400">
            <a:off x="883800" y="1900080"/>
            <a:ext cx="2674440" cy="366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7"/>
          <p:cNvSpPr/>
          <p:nvPr/>
        </p:nvSpPr>
        <p:spPr>
          <a:xfrm>
            <a:off x="597600" y="2563560"/>
            <a:ext cx="220536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Dashboard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8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9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8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"/>
          <p:cNvPicPr/>
          <p:nvPr/>
        </p:nvPicPr>
        <p:blipFill>
          <a:blip r:embed="rId1"/>
          <a:stretch/>
        </p:blipFill>
        <p:spPr>
          <a:xfrm>
            <a:off x="586440" y="3144600"/>
            <a:ext cx="3257640" cy="176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Shape 16"/>
          <p:cNvSpPr/>
          <p:nvPr/>
        </p:nvSpPr>
        <p:spPr>
          <a:xfrm rot="5427600">
            <a:off x="4651200" y="1988280"/>
            <a:ext cx="2674440" cy="35038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9"/>
          <p:cNvSpPr/>
          <p:nvPr/>
        </p:nvSpPr>
        <p:spPr>
          <a:xfrm rot="5428800">
            <a:off x="8393760" y="2021760"/>
            <a:ext cx="2674800" cy="3535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0"/>
          <p:cNvSpPr/>
          <p:nvPr/>
        </p:nvSpPr>
        <p:spPr>
          <a:xfrm>
            <a:off x="4406040" y="2608920"/>
            <a:ext cx="220500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 Adicionar movimentos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1"/>
          <p:cNvSpPr/>
          <p:nvPr/>
        </p:nvSpPr>
        <p:spPr>
          <a:xfrm>
            <a:off x="8132040" y="2608560"/>
            <a:ext cx="220500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Categorias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"/>
          <p:cNvPicPr/>
          <p:nvPr/>
        </p:nvPicPr>
        <p:blipFill>
          <a:blip r:embed="rId2"/>
          <a:stretch/>
        </p:blipFill>
        <p:spPr>
          <a:xfrm>
            <a:off x="4409280" y="3115440"/>
            <a:ext cx="3136680" cy="178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"/>
          <p:cNvPicPr/>
          <p:nvPr/>
        </p:nvPicPr>
        <p:blipFill>
          <a:blip r:embed="rId3"/>
          <a:stretch/>
        </p:blipFill>
        <p:spPr>
          <a:xfrm>
            <a:off x="8131680" y="3128040"/>
            <a:ext cx="3181320" cy="181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36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200" b="1" u="none" spc="99" strike="noStrike">
                <a:solidFill>
                  <a:srgbClr val="1f6f63"/>
                </a:solidFill>
                <a:effectLst/>
                <a:uFillTx/>
                <a:latin typeface="Inter"/>
                <a:ea typeface="Inter"/>
              </a:rPr>
              <a:t>07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8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28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Demonstração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1"/>
          <p:cNvSpPr/>
          <p:nvPr/>
        </p:nvSpPr>
        <p:spPr>
          <a:xfrm rot="5429400">
            <a:off x="886680" y="1900440"/>
            <a:ext cx="2673000" cy="3663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9"/>
          <p:cNvSpPr/>
          <p:nvPr/>
        </p:nvSpPr>
        <p:spPr>
          <a:xfrm>
            <a:off x="600480" y="2563560"/>
            <a:ext cx="220428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Charts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0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1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8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5"/>
          <p:cNvSpPr/>
          <p:nvPr/>
        </p:nvSpPr>
        <p:spPr>
          <a:xfrm rot="5427600">
            <a:off x="4651560" y="1988640"/>
            <a:ext cx="2673000" cy="350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9"/>
          <p:cNvSpPr/>
          <p:nvPr/>
        </p:nvSpPr>
        <p:spPr>
          <a:xfrm rot="5428800">
            <a:off x="8392680" y="2022120"/>
            <a:ext cx="2673360" cy="3533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2"/>
          <p:cNvSpPr/>
          <p:nvPr/>
        </p:nvSpPr>
        <p:spPr>
          <a:xfrm>
            <a:off x="4406760" y="2608920"/>
            <a:ext cx="220392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Movimentações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3"/>
          <p:cNvSpPr/>
          <p:nvPr/>
        </p:nvSpPr>
        <p:spPr>
          <a:xfrm>
            <a:off x="8130960" y="2608560"/>
            <a:ext cx="220392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t-PT" sz="1300" b="1" u="none" strike="noStrike">
                <a:solidFill>
                  <a:srgbClr val="0d2b2e"/>
                </a:solidFill>
                <a:effectLst/>
                <a:uFillTx/>
                <a:latin typeface="Poppins"/>
                <a:ea typeface="Poppins"/>
              </a:rPr>
              <a:t>Relatório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"/>
          <p:cNvPicPr/>
          <p:nvPr/>
        </p:nvPicPr>
        <p:blipFill>
          <a:blip r:embed="rId1"/>
          <a:stretch/>
        </p:blipFill>
        <p:spPr>
          <a:xfrm>
            <a:off x="529920" y="3116880"/>
            <a:ext cx="3257640" cy="17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"/>
          <p:cNvPicPr/>
          <p:nvPr/>
        </p:nvPicPr>
        <p:blipFill>
          <a:blip r:embed="rId2"/>
          <a:stretch/>
        </p:blipFill>
        <p:spPr>
          <a:xfrm>
            <a:off x="4337640" y="3118320"/>
            <a:ext cx="3256560" cy="180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"/>
          <p:cNvPicPr/>
          <p:nvPr/>
        </p:nvPicPr>
        <p:blipFill>
          <a:blip r:embed="rId3"/>
          <a:stretch/>
        </p:blipFill>
        <p:spPr>
          <a:xfrm>
            <a:off x="8083440" y="3210840"/>
            <a:ext cx="3249720" cy="174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640080" y="45720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pc="99" strike="noStrike">
                <a:solidFill>
                  <a:srgbClr val="4caf87"/>
                </a:solidFill>
                <a:effectLst/>
                <a:uFillTx/>
                <a:latin typeface="Inter"/>
                <a:ea typeface="Inter"/>
              </a:rPr>
              <a:t>08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640080" y="749880"/>
            <a:ext cx="10056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Conclusão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640080" y="1737360"/>
            <a:ext cx="102398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O desenvolvimento do Personal Finance Manager permitiu aplicar, de forma prática, conceitos fundamentais de programação orientada a objetos, modelação de bases de dados e construção de interfaces gráficas em Python.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640080" y="2606040"/>
            <a:ext cx="102398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bfe3d1"/>
                </a:solidFill>
                <a:effectLst/>
                <a:uFillTx/>
                <a:latin typeface="Inter"/>
                <a:ea typeface="Inter"/>
              </a:rPr>
              <a:t>A arquitetura em camadas construída garantiu um desenvolvimento organizado e sustentável e deixou claramente documentadas as decisões tomadas e as melhorias a realizar no futuro.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"/>
          <p:cNvSpPr/>
          <p:nvPr/>
        </p:nvSpPr>
        <p:spPr>
          <a:xfrm>
            <a:off x="640080" y="3977640"/>
            <a:ext cx="10239840" cy="1415880"/>
          </a:xfrm>
          <a:prstGeom prst="roundRect">
            <a:avLst>
              <a:gd name="adj" fmla="val 7742"/>
            </a:avLst>
          </a:prstGeom>
          <a:solidFill>
            <a:srgbClr val="133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960120" y="4160520"/>
            <a:ext cx="95997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O projeto cumpre os objetivos propostos, entregando uma aplicação funcional de gestão financeira pessoal, com espaço de crescimento bem definido para versões futuras.</a:t>
            </a:r>
            <a:endParaRPr lang="pt-PT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457200" y="653796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Personal Finance Manager</a:t>
            </a:r>
            <a:endParaRPr lang="pt-P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11521440" y="653796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f6b6a"/>
                </a:solidFill>
                <a:effectLst/>
                <a:uFillTx/>
                <a:latin typeface="Inter"/>
                <a:ea typeface="Inter"/>
              </a:rPr>
              <a:t>9</a:t>
            </a:r>
            <a:endParaRPr lang="pt-P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Application>LibreOffice/25.8.7.3$Linux_X86_64 LibreOffice_project/580$Build-3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2026-08-09T21:25:09Z</dcterms:created>
  <dc:creator>PptxGenJS</dc:creator>
  <dc:description/>
  <dc:language>pt-PT</dc:language>
  <cp:lastModifiedBy/>
  <dcterms:modified xsi:type="dcterms:W3CDTF">2026-08-11T22:32:07Z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