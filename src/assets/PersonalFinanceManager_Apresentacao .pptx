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pt-P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mover o diapositivo</a:t>
            </a:r>
            <a:endParaRPr lang="pt-PT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</a:t>
            </a: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das </a:t>
            </a: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</a:t>
            </a:r>
            <a:endParaRPr lang="pt-P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D77119E-7EAF-4454-A018-D0177F5BE46D}" type="slidenum"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760AE3-7FBD-409D-A48F-9017B2A0AA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AFC782-C8E3-49BD-B5A8-3EF89FE71C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64020B-67D6-495F-895E-B840FBE4E3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059363-962D-42BD-BD2B-5EC41608B7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60BA2F-0126-484C-9A99-0B8126E716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F1FB7FA-079B-427C-8464-7FD5ECA0EE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226753-C991-4E77-9E96-B2335942C2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232928-39DE-43DB-8666-E2008E9E9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120108-A1DA-4ECF-B520-2BA5779796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pt-P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título</a:t>
            </a:r>
            <a:endParaRPr lang="pt-PT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PT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 de tópicos</a:t>
            </a:r>
            <a:endParaRPr lang="pt-PT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 de tópicos</a:t>
            </a:r>
            <a:endParaRPr lang="pt-PT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 de tópicos</a:t>
            </a:r>
            <a:endParaRPr lang="pt-PT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 de tópicos</a:t>
            </a:r>
            <a:endParaRPr lang="pt-PT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nível de tópicos</a:t>
            </a:r>
            <a:endParaRPr lang="pt-PT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Sétimo nível de tópicos</a:t>
            </a:r>
            <a:endParaRPr lang="pt-PT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822960" y="822960"/>
            <a:ext cx="1005480" cy="1005480"/>
          </a:xfrm>
          <a:prstGeom prst="roundRect">
            <a:avLst>
              <a:gd name="adj" fmla="val 200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22960" y="82296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PFM</a:t>
            </a:r>
            <a:endParaRPr lang="pt-PT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22960" y="2651760"/>
            <a:ext cx="10515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Personal Finance Manager</a:t>
            </a:r>
            <a:endParaRPr lang="pt-PT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822960" y="349308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Sistema de Gestão de Finanças Pessoais </a:t>
            </a:r>
            <a:endParaRPr lang="pt-PT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822960" y="5349240"/>
            <a:ext cx="3840480" cy="360"/>
          </a:xfrm>
          <a:prstGeom prst="line">
            <a:avLst/>
          </a:prstGeom>
          <a:ln w="19050">
            <a:solidFill>
              <a:srgbClr val="1f6f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22960" y="54864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Esmeralda Fonseca</a:t>
            </a:r>
            <a:endParaRPr lang="pt-PT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585216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Orientação: Prof. Eng. Sebilson Cristovão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640080" y="4572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01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640080" y="74988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Introdução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640080" y="1691640"/>
            <a:ext cx="64004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 gestão das finanças pessoais é uma prática essencial para o equilíbrio financeiro de qualquer pessoa. No entanto, muitas pessoas ainda recorrem a métodos manuais ou pouco estruturados para registar as suas receitas e despesas, o que dificulta uma visão clara e organizada da sua situação financeira.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640080" y="3337560"/>
            <a:ext cx="6400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Este projeto insere-se no âmbito académico, sob orientação do Prof. Eng. Sebilson, com o objetivo de aplicar de forma prática conceitos de programação orientada a objetos, bases de dados e desenvolvimento de interfaces gráficas, através da criação de uma aplicação de gestão financeira pessoal.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4"/>
          <p:cNvSpPr/>
          <p:nvPr/>
        </p:nvSpPr>
        <p:spPr>
          <a:xfrm>
            <a:off x="7589520" y="1691640"/>
            <a:ext cx="3931560" cy="3748680"/>
          </a:xfrm>
          <a:prstGeom prst="roundRect">
            <a:avLst>
              <a:gd name="adj" fmla="val 2927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7909560" y="196596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Neste projeto</a:t>
            </a:r>
            <a:endParaRPr lang="pt-P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6"/>
          <p:cNvSpPr/>
          <p:nvPr/>
        </p:nvSpPr>
        <p:spPr>
          <a:xfrm>
            <a:off x="7955280" y="2633400"/>
            <a:ext cx="91080" cy="91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8183880" y="248724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Aplicação de secretária em Python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8"/>
          <p:cNvSpPr/>
          <p:nvPr/>
        </p:nvSpPr>
        <p:spPr>
          <a:xfrm>
            <a:off x="7955280" y="3182040"/>
            <a:ext cx="91080" cy="91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8183880" y="303588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Interface gráfica com Flet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0"/>
          <p:cNvSpPr/>
          <p:nvPr/>
        </p:nvSpPr>
        <p:spPr>
          <a:xfrm>
            <a:off x="7955280" y="3730680"/>
            <a:ext cx="91080" cy="91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8183880" y="35845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Base de dados local em SQLite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7955280" y="4279320"/>
            <a:ext cx="91080" cy="91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3"/>
          <p:cNvSpPr/>
          <p:nvPr/>
        </p:nvSpPr>
        <p:spPr>
          <a:xfrm>
            <a:off x="8183880" y="41331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Gráficos financeiros com Matplotlib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4"/>
          <p:cNvSpPr/>
          <p:nvPr/>
        </p:nvSpPr>
        <p:spPr>
          <a:xfrm>
            <a:off x="457200" y="6537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11521440" y="653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2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40080" y="4572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4caf87"/>
                </a:solidFill>
                <a:effectLst/>
                <a:uFillTx/>
                <a:latin typeface="Inter"/>
                <a:ea typeface="Inter"/>
              </a:rPr>
              <a:t>02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40080" y="74988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Problemática</a:t>
            </a:r>
            <a:endParaRPr lang="pt-PT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"/>
          <p:cNvSpPr/>
          <p:nvPr/>
        </p:nvSpPr>
        <p:spPr>
          <a:xfrm>
            <a:off x="640080" y="1703160"/>
            <a:ext cx="5257440" cy="1599840"/>
          </a:xfrm>
          <a:prstGeom prst="roundRect">
            <a:avLst>
              <a:gd name="adj" fmla="val 5714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640080" y="1703160"/>
            <a:ext cx="456840" cy="456840"/>
          </a:xfrm>
          <a:prstGeom prst="roundRect">
            <a:avLst>
              <a:gd name="adj" fmla="val 220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896040" y="19749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896040" y="256032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896040" y="2907720"/>
            <a:ext cx="475452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6203160" y="1737360"/>
            <a:ext cx="5257440" cy="1599840"/>
          </a:xfrm>
          <a:prstGeom prst="roundRect">
            <a:avLst>
              <a:gd name="adj" fmla="val 5714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8"/>
          <p:cNvSpPr/>
          <p:nvPr/>
        </p:nvSpPr>
        <p:spPr>
          <a:xfrm>
            <a:off x="6203160" y="1737360"/>
            <a:ext cx="456840" cy="456840"/>
          </a:xfrm>
          <a:prstGeom prst="roundRect">
            <a:avLst>
              <a:gd name="adj" fmla="val 220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6428160" y="19749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6428160" y="256032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6428160" y="2547720"/>
            <a:ext cx="47545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Registos em papel ou folhas de cálculo dispersas, difíceis de manter atualizados.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2"/>
          <p:cNvSpPr/>
          <p:nvPr/>
        </p:nvSpPr>
        <p:spPr>
          <a:xfrm>
            <a:off x="640080" y="3611880"/>
            <a:ext cx="5257440" cy="1599840"/>
          </a:xfrm>
          <a:prstGeom prst="roundRect">
            <a:avLst>
              <a:gd name="adj" fmla="val 5714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640080" y="3611880"/>
            <a:ext cx="456840" cy="456840"/>
          </a:xfrm>
          <a:prstGeom prst="roundRect">
            <a:avLst>
              <a:gd name="adj" fmla="val 220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3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896040" y="38494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1096920" y="370332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Ausência de visualização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896040" y="4782240"/>
            <a:ext cx="47545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7"/>
          <p:cNvSpPr/>
          <p:nvPr/>
        </p:nvSpPr>
        <p:spPr>
          <a:xfrm>
            <a:off x="6172200" y="3600000"/>
            <a:ext cx="5257440" cy="1599840"/>
          </a:xfrm>
          <a:prstGeom prst="roundRect">
            <a:avLst>
              <a:gd name="adj" fmla="val 5714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8"/>
          <p:cNvSpPr/>
          <p:nvPr/>
        </p:nvSpPr>
        <p:spPr>
          <a:xfrm>
            <a:off x="6172200" y="3625560"/>
            <a:ext cx="456840" cy="456840"/>
          </a:xfrm>
          <a:prstGeom prst="roundRect">
            <a:avLst>
              <a:gd name="adj" fmla="val 220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4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428160" y="38494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6765480" y="360000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Histórico pouco acessível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1"/>
          <p:cNvSpPr/>
          <p:nvPr/>
        </p:nvSpPr>
        <p:spPr>
          <a:xfrm>
            <a:off x="6428160" y="4782240"/>
            <a:ext cx="47545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2"/>
          <p:cNvSpPr/>
          <p:nvPr/>
        </p:nvSpPr>
        <p:spPr>
          <a:xfrm>
            <a:off x="457200" y="6537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11521440" y="653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3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40080" y="1737360"/>
            <a:ext cx="439920" cy="422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 1</a:t>
            </a:r>
            <a:endParaRPr lang="pt-PT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300000" y="1737360"/>
            <a:ext cx="296640" cy="36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2</a:t>
            </a:r>
            <a:endParaRPr lang="pt-PT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194120" y="1713960"/>
            <a:ext cx="1685880" cy="33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Falta de controlo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-6120000" y="4038840"/>
            <a:ext cx="5900400" cy="28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640080" y="2443320"/>
            <a:ext cx="5257440" cy="85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-1440000" y="2789640"/>
            <a:ext cx="53964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3060000" y="-450000"/>
            <a:ext cx="53964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40080" y="2418840"/>
            <a:ext cx="5257440" cy="47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Muitas pessoas não sabem, em tempo real, quanto ganham e quanto gastam por mês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840000" y="1800000"/>
            <a:ext cx="2309400" cy="33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M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é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d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s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c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á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c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s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6234120" y="4500000"/>
            <a:ext cx="5195520" cy="28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Dificuldade em pesquisar ou filtrar movimentações antigas de forma rápida.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20000" y="4398840"/>
            <a:ext cx="5195520" cy="28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Dificuldade em pesquisar ou filtrar movimentações antigas de forma rápida.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6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640080" y="4572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03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640080" y="74988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Objetivo Geral</a:t>
            </a:r>
            <a:endParaRPr lang="pt-PT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"/>
          <p:cNvSpPr/>
          <p:nvPr/>
        </p:nvSpPr>
        <p:spPr>
          <a:xfrm>
            <a:off x="1280160" y="2468880"/>
            <a:ext cx="9600840" cy="219420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0">
            <a:noFill/>
          </a:ln>
          <a:effectLst>
            <a:outerShdw algn="bl" blurRad="12708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1737360" y="2697480"/>
            <a:ext cx="86864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lang="en-US" sz="19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Desenvolver uma aplicação de secretária em Python, com interface gráfica em Flet e base de dados local em SQLite, que permita a gestão simples e visual das finanças pessoais do utilizador.</a:t>
            </a:r>
            <a:endParaRPr lang="pt-PT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457200" y="6537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11521440" y="653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4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40080" y="4572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04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40080" y="74988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Objetivos Específicos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640080" y="1691640"/>
            <a:ext cx="3520080" cy="196560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868680" y="1920240"/>
            <a:ext cx="365400" cy="36540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868680" y="1920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1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868680" y="2404800"/>
            <a:ext cx="3062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Registar movimentos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868680" y="27432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Adicionar, editar e remover receitas e despesas de forma validada.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4389120" y="1691640"/>
            <a:ext cx="3520080" cy="196560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8"/>
          <p:cNvSpPr/>
          <p:nvPr/>
        </p:nvSpPr>
        <p:spPr>
          <a:xfrm>
            <a:off x="4617720" y="1920240"/>
            <a:ext cx="365400" cy="36540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4617720" y="1920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2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4617720" y="2404800"/>
            <a:ext cx="3062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Persistir os dados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4617720" y="27432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Armazenar todos os movimentos numa base de dados SQLite local.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2"/>
          <p:cNvSpPr/>
          <p:nvPr/>
        </p:nvSpPr>
        <p:spPr>
          <a:xfrm>
            <a:off x="8138160" y="1691640"/>
            <a:ext cx="3520080" cy="196560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3"/>
          <p:cNvSpPr/>
          <p:nvPr/>
        </p:nvSpPr>
        <p:spPr>
          <a:xfrm>
            <a:off x="8366760" y="1920240"/>
            <a:ext cx="365400" cy="36540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8366760" y="1920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3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5"/>
          <p:cNvSpPr/>
          <p:nvPr/>
        </p:nvSpPr>
        <p:spPr>
          <a:xfrm>
            <a:off x="8366760" y="2404800"/>
            <a:ext cx="3062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Gerar relatórios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8366760" y="27432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Calcular totais mensais, saldo, maior receita/despesa e categoria mais gasta.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7"/>
          <p:cNvSpPr/>
          <p:nvPr/>
        </p:nvSpPr>
        <p:spPr>
          <a:xfrm>
            <a:off x="640080" y="3886200"/>
            <a:ext cx="3520080" cy="196560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868680" y="4114800"/>
            <a:ext cx="365400" cy="36540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868680" y="411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4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0"/>
          <p:cNvSpPr/>
          <p:nvPr/>
        </p:nvSpPr>
        <p:spPr>
          <a:xfrm>
            <a:off x="868680" y="4599360"/>
            <a:ext cx="3062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Visualizar graficamente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1"/>
          <p:cNvSpPr/>
          <p:nvPr/>
        </p:nvSpPr>
        <p:spPr>
          <a:xfrm>
            <a:off x="868680" y="493776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Apresentar gráficos de receitas vs despesas e distribuição por categoria.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"/>
          <p:cNvSpPr/>
          <p:nvPr/>
        </p:nvSpPr>
        <p:spPr>
          <a:xfrm>
            <a:off x="4389120" y="3886200"/>
            <a:ext cx="3520080" cy="196560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3"/>
          <p:cNvSpPr/>
          <p:nvPr/>
        </p:nvSpPr>
        <p:spPr>
          <a:xfrm>
            <a:off x="4617720" y="4114800"/>
            <a:ext cx="365400" cy="36540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4617720" y="411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5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5"/>
          <p:cNvSpPr/>
          <p:nvPr/>
        </p:nvSpPr>
        <p:spPr>
          <a:xfrm>
            <a:off x="4617720" y="4599360"/>
            <a:ext cx="3062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Pesquisar e filtrar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6"/>
          <p:cNvSpPr/>
          <p:nvPr/>
        </p:nvSpPr>
        <p:spPr>
          <a:xfrm>
            <a:off x="4617720" y="493776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Localizar movimentações por descrição, tipo, categoria ou período.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7"/>
          <p:cNvSpPr/>
          <p:nvPr/>
        </p:nvSpPr>
        <p:spPr>
          <a:xfrm>
            <a:off x="8138160" y="3886200"/>
            <a:ext cx="3520080" cy="196560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8"/>
          <p:cNvSpPr/>
          <p:nvPr/>
        </p:nvSpPr>
        <p:spPr>
          <a:xfrm>
            <a:off x="8366760" y="4114800"/>
            <a:ext cx="365400" cy="36540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9"/>
          <p:cNvSpPr/>
          <p:nvPr/>
        </p:nvSpPr>
        <p:spPr>
          <a:xfrm>
            <a:off x="8366760" y="411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6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0"/>
          <p:cNvSpPr/>
          <p:nvPr/>
        </p:nvSpPr>
        <p:spPr>
          <a:xfrm>
            <a:off x="8366760" y="4599360"/>
            <a:ext cx="3062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Exportar relatórios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1"/>
          <p:cNvSpPr/>
          <p:nvPr/>
        </p:nvSpPr>
        <p:spPr>
          <a:xfrm>
            <a:off x="8366760" y="493776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Guardar o relatório mensal em ficheiro de texto para consulta posterior.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2"/>
          <p:cNvSpPr/>
          <p:nvPr/>
        </p:nvSpPr>
        <p:spPr>
          <a:xfrm>
            <a:off x="457200" y="6537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3"/>
          <p:cNvSpPr/>
          <p:nvPr/>
        </p:nvSpPr>
        <p:spPr>
          <a:xfrm>
            <a:off x="11521440" y="653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5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40080" y="4572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05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640080" y="74988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Solução Proposta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640080" y="14173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Arquitetura em camadas: dados primeiro, interface por último.</a:t>
            </a:r>
            <a:endParaRPr lang="pt-PT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640080" y="1965960"/>
            <a:ext cx="6309000" cy="658080"/>
          </a:xfrm>
          <a:prstGeom prst="roundRect">
            <a:avLst>
              <a:gd name="adj" fmla="val 12500"/>
            </a:avLst>
          </a:prstGeom>
          <a:solidFill>
            <a:srgbClr val="0d2b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868680" y="196596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Database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2606040" y="1965960"/>
            <a:ext cx="42058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Ligação SQLite e criação da tabela 'movimentos'.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40080" y="2752200"/>
            <a:ext cx="6309000" cy="658080"/>
          </a:xfrm>
          <a:prstGeom prst="roundRect">
            <a:avLst>
              <a:gd name="adj" fmla="val 1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868680" y="275220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Transaction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2606040" y="2752200"/>
            <a:ext cx="42058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Dataclass com validação e mapeamento de dados.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640080" y="3538800"/>
            <a:ext cx="6309000" cy="658080"/>
          </a:xfrm>
          <a:prstGeom prst="roundRect">
            <a:avLst>
              <a:gd name="adj" fmla="val 12500"/>
            </a:avLst>
          </a:prstGeom>
          <a:solidFill>
            <a:srgbClr val="4caf8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0"/>
          <p:cNvSpPr/>
          <p:nvPr/>
        </p:nvSpPr>
        <p:spPr>
          <a:xfrm>
            <a:off x="868680" y="353880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Repository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2606040" y="3538800"/>
            <a:ext cx="42058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CRUD, pesquisa, filtros e agregações em SQL.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2"/>
          <p:cNvSpPr/>
          <p:nvPr/>
        </p:nvSpPr>
        <p:spPr>
          <a:xfrm>
            <a:off x="640080" y="4325040"/>
            <a:ext cx="6309000" cy="658080"/>
          </a:xfrm>
          <a:prstGeom prst="roundRect">
            <a:avLst>
              <a:gd name="adj" fmla="val 125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3"/>
          <p:cNvSpPr/>
          <p:nvPr/>
        </p:nvSpPr>
        <p:spPr>
          <a:xfrm>
            <a:off x="868680" y="432504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Service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4"/>
          <p:cNvSpPr/>
          <p:nvPr/>
        </p:nvSpPr>
        <p:spPr>
          <a:xfrm>
            <a:off x="2606040" y="4325040"/>
            <a:ext cx="42058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Regras de negócio: relatório mensal, cálculos.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5"/>
          <p:cNvSpPr/>
          <p:nvPr/>
        </p:nvSpPr>
        <p:spPr>
          <a:xfrm>
            <a:off x="640080" y="5111640"/>
            <a:ext cx="6309000" cy="658080"/>
          </a:xfrm>
          <a:prstGeom prst="roundRect">
            <a:avLst>
              <a:gd name="adj" fmla="val 12500"/>
            </a:avLst>
          </a:prstGeom>
          <a:solidFill>
            <a:srgbClr val="8fd9b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6"/>
          <p:cNvSpPr/>
          <p:nvPr/>
        </p:nvSpPr>
        <p:spPr>
          <a:xfrm>
            <a:off x="868680" y="511164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Views (Flet)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7"/>
          <p:cNvSpPr/>
          <p:nvPr/>
        </p:nvSpPr>
        <p:spPr>
          <a:xfrm>
            <a:off x="2606040" y="5111640"/>
            <a:ext cx="42058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Ecrãs: dashboard, movimentações, gráficos.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8"/>
          <p:cNvSpPr/>
          <p:nvPr/>
        </p:nvSpPr>
        <p:spPr>
          <a:xfrm>
            <a:off x="7315200" y="1965960"/>
            <a:ext cx="4205880" cy="42058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9"/>
          <p:cNvSpPr/>
          <p:nvPr/>
        </p:nvSpPr>
        <p:spPr>
          <a:xfrm>
            <a:off x="7589520" y="2212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Principais funcionalidades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0"/>
          <p:cNvSpPr/>
          <p:nvPr/>
        </p:nvSpPr>
        <p:spPr>
          <a:xfrm>
            <a:off x="7635240" y="2807280"/>
            <a:ext cx="82080" cy="82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1"/>
          <p:cNvSpPr/>
          <p:nvPr/>
        </p:nvSpPr>
        <p:spPr>
          <a:xfrm>
            <a:off x="7845480" y="26517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Dashboard com resumo mensal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2"/>
          <p:cNvSpPr/>
          <p:nvPr/>
        </p:nvSpPr>
        <p:spPr>
          <a:xfrm>
            <a:off x="7635240" y="3310200"/>
            <a:ext cx="82080" cy="82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3"/>
          <p:cNvSpPr/>
          <p:nvPr/>
        </p:nvSpPr>
        <p:spPr>
          <a:xfrm>
            <a:off x="7845480" y="31546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Registo, edição e remoção de movimentos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4"/>
          <p:cNvSpPr/>
          <p:nvPr/>
        </p:nvSpPr>
        <p:spPr>
          <a:xfrm>
            <a:off x="7635240" y="3813120"/>
            <a:ext cx="82080" cy="82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5"/>
          <p:cNvSpPr/>
          <p:nvPr/>
        </p:nvSpPr>
        <p:spPr>
          <a:xfrm>
            <a:off x="7845480" y="365760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Relatório mensal detalhado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6"/>
          <p:cNvSpPr/>
          <p:nvPr/>
        </p:nvSpPr>
        <p:spPr>
          <a:xfrm>
            <a:off x="7635240" y="4316040"/>
            <a:ext cx="82080" cy="82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7"/>
          <p:cNvSpPr/>
          <p:nvPr/>
        </p:nvSpPr>
        <p:spPr>
          <a:xfrm>
            <a:off x="7845480" y="416052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Gráficos de receitas, despesas e categorias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8"/>
          <p:cNvSpPr/>
          <p:nvPr/>
        </p:nvSpPr>
        <p:spPr>
          <a:xfrm>
            <a:off x="7635240" y="4818960"/>
            <a:ext cx="82080" cy="82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9"/>
          <p:cNvSpPr/>
          <p:nvPr/>
        </p:nvSpPr>
        <p:spPr>
          <a:xfrm>
            <a:off x="7845480" y="466344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Pesquisa e filtros por tipo, categoria e período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0"/>
          <p:cNvSpPr/>
          <p:nvPr/>
        </p:nvSpPr>
        <p:spPr>
          <a:xfrm>
            <a:off x="7635240" y="5321880"/>
            <a:ext cx="82080" cy="8208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1"/>
          <p:cNvSpPr/>
          <p:nvPr/>
        </p:nvSpPr>
        <p:spPr>
          <a:xfrm>
            <a:off x="7845480" y="5166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Exportação do relatório em .txt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2"/>
          <p:cNvSpPr/>
          <p:nvPr/>
        </p:nvSpPr>
        <p:spPr>
          <a:xfrm>
            <a:off x="457200" y="6537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3"/>
          <p:cNvSpPr/>
          <p:nvPr/>
        </p:nvSpPr>
        <p:spPr>
          <a:xfrm>
            <a:off x="11521440" y="653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6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40080" y="4572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06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40080" y="74988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Tecnologias Utilizadas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"/>
          <p:cNvSpPr/>
          <p:nvPr/>
        </p:nvSpPr>
        <p:spPr>
          <a:xfrm>
            <a:off x="640080" y="1737360"/>
            <a:ext cx="2605680" cy="292572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3"/>
          <p:cNvSpPr/>
          <p:nvPr/>
        </p:nvSpPr>
        <p:spPr>
          <a:xfrm>
            <a:off x="960120" y="2057400"/>
            <a:ext cx="639720" cy="639720"/>
          </a:xfrm>
          <a:prstGeom prst="roundRect">
            <a:avLst>
              <a:gd name="adj" fmla="val 22857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"/>
          <p:cNvSpPr/>
          <p:nvPr/>
        </p:nvSpPr>
        <p:spPr>
          <a:xfrm>
            <a:off x="914400" y="2926080"/>
            <a:ext cx="2057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Python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5"/>
          <p:cNvSpPr/>
          <p:nvPr/>
        </p:nvSpPr>
        <p:spPr>
          <a:xfrm>
            <a:off x="914400" y="3291840"/>
            <a:ext cx="2057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Linguagem base de todo o sistema, orientação a objetos e dataclasses.</a:t>
            </a: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6"/>
          <p:cNvSpPr/>
          <p:nvPr/>
        </p:nvSpPr>
        <p:spPr>
          <a:xfrm>
            <a:off x="3474720" y="1737360"/>
            <a:ext cx="2605680" cy="292572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7"/>
          <p:cNvSpPr/>
          <p:nvPr/>
        </p:nvSpPr>
        <p:spPr>
          <a:xfrm>
            <a:off x="3794760" y="2057400"/>
            <a:ext cx="639720" cy="639720"/>
          </a:xfrm>
          <a:prstGeom prst="roundRect">
            <a:avLst>
              <a:gd name="adj" fmla="val 22857"/>
            </a:avLst>
          </a:prstGeom>
          <a:solidFill>
            <a:srgbClr val="4caf8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8"/>
          <p:cNvSpPr/>
          <p:nvPr/>
        </p:nvSpPr>
        <p:spPr>
          <a:xfrm>
            <a:off x="3749040" y="2926080"/>
            <a:ext cx="2057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Flet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3749040" y="3291840"/>
            <a:ext cx="2057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Framework para a interface gráfica de secretária, em Python puro.</a:t>
            </a: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0"/>
          <p:cNvSpPr/>
          <p:nvPr/>
        </p:nvSpPr>
        <p:spPr>
          <a:xfrm>
            <a:off x="6309360" y="1737360"/>
            <a:ext cx="2605680" cy="292572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1"/>
          <p:cNvSpPr/>
          <p:nvPr/>
        </p:nvSpPr>
        <p:spPr>
          <a:xfrm>
            <a:off x="6629400" y="2057400"/>
            <a:ext cx="639720" cy="639720"/>
          </a:xfrm>
          <a:prstGeom prst="roundRect">
            <a:avLst>
              <a:gd name="adj" fmla="val 22857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6583680" y="2926080"/>
            <a:ext cx="2057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SQLite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6583680" y="3291840"/>
            <a:ext cx="2057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Base de dados relacional local, sem servidor externo.</a:t>
            </a: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4"/>
          <p:cNvSpPr/>
          <p:nvPr/>
        </p:nvSpPr>
        <p:spPr>
          <a:xfrm>
            <a:off x="9144000" y="1737360"/>
            <a:ext cx="2605680" cy="292572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5"/>
          <p:cNvSpPr/>
          <p:nvPr/>
        </p:nvSpPr>
        <p:spPr>
          <a:xfrm>
            <a:off x="9464040" y="2057400"/>
            <a:ext cx="639720" cy="639720"/>
          </a:xfrm>
          <a:prstGeom prst="roundRect">
            <a:avLst>
              <a:gd name="adj" fmla="val 22857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6"/>
          <p:cNvSpPr/>
          <p:nvPr/>
        </p:nvSpPr>
        <p:spPr>
          <a:xfrm>
            <a:off x="9418320" y="2926080"/>
            <a:ext cx="2057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Matplotlib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7"/>
          <p:cNvSpPr/>
          <p:nvPr/>
        </p:nvSpPr>
        <p:spPr>
          <a:xfrm>
            <a:off x="9418320" y="3291840"/>
            <a:ext cx="2057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Geração dos gráficos financeiros (barras e circular).</a:t>
            </a: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8"/>
          <p:cNvSpPr/>
          <p:nvPr/>
        </p:nvSpPr>
        <p:spPr>
          <a:xfrm>
            <a:off x="457200" y="6537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9"/>
          <p:cNvSpPr/>
          <p:nvPr/>
        </p:nvSpPr>
        <p:spPr>
          <a:xfrm>
            <a:off x="11521440" y="653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7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/>
          <p:nvPr/>
        </p:nvSpPr>
        <p:spPr>
          <a:xfrm>
            <a:off x="640080" y="4572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07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640080" y="74988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Perspetivas Futuras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640080" y="14173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Melhorias identificadas e documentadas para depois do MVP.</a:t>
            </a:r>
            <a:endParaRPr lang="pt-PT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"/>
          <p:cNvSpPr/>
          <p:nvPr/>
        </p:nvSpPr>
        <p:spPr>
          <a:xfrm>
            <a:off x="640080" y="1965960"/>
            <a:ext cx="2605680" cy="32457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868680" y="214884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bfe3d1"/>
                </a:solidFill>
                <a:effectLst/>
                <a:uFillTx/>
                <a:latin typeface="Poppins"/>
                <a:ea typeface="Poppins"/>
              </a:rPr>
              <a:t>01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868680" y="2697480"/>
            <a:ext cx="2148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Concluir as Views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868680" y="3154680"/>
            <a:ext cx="2148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Finalizar todos os ecrãs em Flet, ligados à lógica de negócio já pronta.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7"/>
          <p:cNvSpPr/>
          <p:nvPr/>
        </p:nvSpPr>
        <p:spPr>
          <a:xfrm>
            <a:off x="3474720" y="1965960"/>
            <a:ext cx="2605680" cy="32457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8"/>
          <p:cNvSpPr/>
          <p:nvPr/>
        </p:nvSpPr>
        <p:spPr>
          <a:xfrm>
            <a:off x="3703320" y="214884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bfe3d1"/>
                </a:solidFill>
                <a:effectLst/>
                <a:uFillTx/>
                <a:latin typeface="Poppins"/>
                <a:ea typeface="Poppins"/>
              </a:rPr>
              <a:t>02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9"/>
          <p:cNvSpPr/>
          <p:nvPr/>
        </p:nvSpPr>
        <p:spPr>
          <a:xfrm>
            <a:off x="3703320" y="2697480"/>
            <a:ext cx="2148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Normalizar Categorias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0"/>
          <p:cNvSpPr/>
          <p:nvPr/>
        </p:nvSpPr>
        <p:spPr>
          <a:xfrm>
            <a:off x="3703320" y="3154680"/>
            <a:ext cx="2148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Criar tabela 'categorias' própria, com chave estrangeira e JOIN.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1"/>
          <p:cNvSpPr/>
          <p:nvPr/>
        </p:nvSpPr>
        <p:spPr>
          <a:xfrm>
            <a:off x="6309360" y="1965960"/>
            <a:ext cx="2605680" cy="32457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2"/>
          <p:cNvSpPr/>
          <p:nvPr/>
        </p:nvSpPr>
        <p:spPr>
          <a:xfrm>
            <a:off x="6537960" y="214884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bfe3d1"/>
                </a:solidFill>
                <a:effectLst/>
                <a:uFillTx/>
                <a:latin typeface="Poppins"/>
                <a:ea typeface="Poppins"/>
              </a:rPr>
              <a:t>03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3"/>
          <p:cNvSpPr/>
          <p:nvPr/>
        </p:nvSpPr>
        <p:spPr>
          <a:xfrm>
            <a:off x="6537960" y="2697480"/>
            <a:ext cx="2148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Filtro Combinado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4"/>
          <p:cNvSpPr/>
          <p:nvPr/>
        </p:nvSpPr>
        <p:spPr>
          <a:xfrm>
            <a:off x="6537960" y="3154680"/>
            <a:ext cx="2148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Implementar filtro dinâmico por múltiplos critérios em simultâneo.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5"/>
          <p:cNvSpPr/>
          <p:nvPr/>
        </p:nvSpPr>
        <p:spPr>
          <a:xfrm>
            <a:off x="9144000" y="1965960"/>
            <a:ext cx="2605680" cy="32457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6"/>
          <p:cNvSpPr/>
          <p:nvPr/>
        </p:nvSpPr>
        <p:spPr>
          <a:xfrm>
            <a:off x="9372600" y="214884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bfe3d1"/>
                </a:solidFill>
                <a:effectLst/>
                <a:uFillTx/>
                <a:latin typeface="Poppins"/>
                <a:ea typeface="Poppins"/>
              </a:rPr>
              <a:t>04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7"/>
          <p:cNvSpPr/>
          <p:nvPr/>
        </p:nvSpPr>
        <p:spPr>
          <a:xfrm>
            <a:off x="9372600" y="2697480"/>
            <a:ext cx="2148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Testes e Publicação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8"/>
          <p:cNvSpPr/>
          <p:nvPr/>
        </p:nvSpPr>
        <p:spPr>
          <a:xfrm>
            <a:off x="9372600" y="3154680"/>
            <a:ext cx="2148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Testes finais e entrega no GitHub privado da disciplina.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9"/>
          <p:cNvSpPr/>
          <p:nvPr/>
        </p:nvSpPr>
        <p:spPr>
          <a:xfrm>
            <a:off x="457200" y="6537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0"/>
          <p:cNvSpPr/>
          <p:nvPr/>
        </p:nvSpPr>
        <p:spPr>
          <a:xfrm>
            <a:off x="11521440" y="653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8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640080" y="4572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4caf87"/>
                </a:solidFill>
                <a:effectLst/>
                <a:uFillTx/>
                <a:latin typeface="Inter"/>
                <a:ea typeface="Inter"/>
              </a:rPr>
              <a:t>08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640080" y="74988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Conclusão</a:t>
            </a:r>
            <a:endParaRPr lang="pt-PT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"/>
          <p:cNvSpPr/>
          <p:nvPr/>
        </p:nvSpPr>
        <p:spPr>
          <a:xfrm>
            <a:off x="640080" y="1737360"/>
            <a:ext cx="102409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O desenvolvimento do Personal Finance Manager permitiu aplicar, de forma prática, conceitos fundamentais de programação orientada a objetos, modelação de bases de dados e construção de interfaces gráficas em Python.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640080" y="2606040"/>
            <a:ext cx="10240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A arquitetura em camadas construída garantiu um desenvolvimento organizado e sustentável e deixou claramente documentadas as decisões tomadas e as melhorias a realizar no futuro.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4"/>
          <p:cNvSpPr/>
          <p:nvPr/>
        </p:nvSpPr>
        <p:spPr>
          <a:xfrm>
            <a:off x="640080" y="3977640"/>
            <a:ext cx="10240920" cy="1416960"/>
          </a:xfrm>
          <a:prstGeom prst="roundRect">
            <a:avLst>
              <a:gd name="adj" fmla="val 7742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960120" y="416052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 projeto cumpre os objetivos propostos, entregando uma aplicação funcional de gestão financeira pessoal, com espaço de crescimento bem definido para versões futuras.</a:t>
            </a:r>
            <a:endParaRPr lang="pt-PT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457200" y="6537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11521440" y="653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9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LibreOffice/25.8.7.3$Linux_X86_64 LibreOffice_project/580$Build-3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2026-08-09T21:25:09Z</dcterms:created>
  <dc:creator>PptxGenJS</dc:creator>
  <dc:description/>
  <dc:language>pt-PT</dc:language>
  <cp:lastModifiedBy/>
  <dcterms:modified xsi:type="dcterms:W3CDTF">2026-08-10T12:15:51Z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