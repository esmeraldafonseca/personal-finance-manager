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pt-PT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diapositivo</a:t>
            </a:r>
            <a:endParaRPr lang="pt-PT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das notas</a:t>
            </a:r>
            <a:endParaRPr lang="pt-P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F1B82E7-E0CC-47D4-ADB2-1682E89EDE05}" type="slidenum"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47BD0E-5272-4763-BD19-71AB5C543CDC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1AC585-D2CA-41DD-B7F0-278E248DBB6A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B348AD-818C-4AAC-A566-ECF0A0163151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F98AD1-1195-465B-B502-25B000A2F6BB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E47796-0C9B-42C3-9BCE-E7CC935FE65E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6F17DB-1211-44AC-B019-F2C9F0C30CA9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74D59A-35CA-4A31-A951-0FCF3660150D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6CFAD1-1990-4C12-9FFD-A0572BCE72E8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E63A48-2157-43EA-A6D3-2CBA43D56135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8B73D8-32EB-4D34-9027-9CD30DEBA409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A9B2AC-FC81-4304-9E71-ED4A15D4A0A3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EC6FFC-27B0-4BE7-AAC9-31C4399CF16B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F2FBAD-30A1-4090-999B-CFC4788F1E7E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1C0076-98BC-4163-8389-3CC2AC8008FD}" type="slidenum">
              <a:rPr lang="pt-PT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pt-PT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lang="pt-PT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PT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lang="pt-P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lang="pt-P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lang="pt-P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lang="pt-PT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822960" y="822960"/>
            <a:ext cx="1004040" cy="1004040"/>
          </a:xfrm>
          <a:prstGeom prst="roundRect">
            <a:avLst>
              <a:gd name="adj" fmla="val 200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22960" y="822960"/>
            <a:ext cx="10040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PFM</a:t>
            </a:r>
            <a:endParaRPr lang="pt-PT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22960" y="2651760"/>
            <a:ext cx="105138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Personal Finance Manager</a:t>
            </a:r>
            <a:endParaRPr lang="pt-PT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822960" y="3493080"/>
            <a:ext cx="10513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Sistema de Gestão de Finanças Pessoais </a:t>
            </a:r>
            <a:endParaRPr lang="pt-PT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822960" y="5349240"/>
            <a:ext cx="3840480" cy="360"/>
          </a:xfrm>
          <a:prstGeom prst="line">
            <a:avLst/>
          </a:prstGeom>
          <a:ln w="19050">
            <a:solidFill>
              <a:srgbClr val="1f6f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22960" y="5486400"/>
            <a:ext cx="548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Esmeralda Fonseca</a:t>
            </a:r>
            <a:endParaRPr lang="pt-PT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5852160"/>
            <a:ext cx="548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Orientação: Prof. Eng. Sebilson Cristovão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01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Introdução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640080" y="1691640"/>
            <a:ext cx="63990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 gestão das finanças pessoais é uma prática essencial para o equilíbrio financeiro de qualquer pessoa. No entanto, muitas pessoas ainda recorrem a métodos manuais ou pouco estruturados para registar as suas receitas e despesas, o que dificulta uma visão clara e organizada da sua situação financeira.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640080" y="3337560"/>
            <a:ext cx="63990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pt-PT" sz="14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Este projeto insere-se no âmbito académico, sob orientação do Prof. Eng. Sebilson Cristóvão, com o objetivo de aplicar de forma prática conceitos de programação orientada a objetos, bases de dados e desenvolvimento de interfaces gráficas, através da criação de uma aplicação de gestão financeira pessoal.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4"/>
          <p:cNvSpPr/>
          <p:nvPr/>
        </p:nvSpPr>
        <p:spPr>
          <a:xfrm>
            <a:off x="7589520" y="1691640"/>
            <a:ext cx="3930120" cy="3747240"/>
          </a:xfrm>
          <a:prstGeom prst="roundRect">
            <a:avLst>
              <a:gd name="adj" fmla="val 2927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7909560" y="196596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Neste projeto</a:t>
            </a:r>
            <a:endParaRPr lang="pt-P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6"/>
          <p:cNvSpPr/>
          <p:nvPr/>
        </p:nvSpPr>
        <p:spPr>
          <a:xfrm>
            <a:off x="7955280" y="2633400"/>
            <a:ext cx="89640" cy="89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4640" bIns="4464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8183880" y="2487240"/>
            <a:ext cx="3198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20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Aplicação desktop em Python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8"/>
          <p:cNvSpPr/>
          <p:nvPr/>
        </p:nvSpPr>
        <p:spPr>
          <a:xfrm>
            <a:off x="7955280" y="3182040"/>
            <a:ext cx="89640" cy="89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4640" bIns="4464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8183880" y="3035880"/>
            <a:ext cx="3198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Interface gráfica com Flet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0"/>
          <p:cNvSpPr/>
          <p:nvPr/>
        </p:nvSpPr>
        <p:spPr>
          <a:xfrm>
            <a:off x="7955280" y="3730680"/>
            <a:ext cx="89640" cy="89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4640" bIns="4464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8183880" y="3584520"/>
            <a:ext cx="3198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Base de dados local em SQLite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7955280" y="4279320"/>
            <a:ext cx="89640" cy="89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4640" bIns="4464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3"/>
          <p:cNvSpPr/>
          <p:nvPr/>
        </p:nvSpPr>
        <p:spPr>
          <a:xfrm>
            <a:off x="8183880" y="4133160"/>
            <a:ext cx="3198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Gráficos financeiros com Matplotlib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4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2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4caf87"/>
                </a:solidFill>
                <a:effectLst/>
                <a:uFillTx/>
                <a:latin typeface="Inter"/>
                <a:ea typeface="Inter"/>
              </a:rPr>
              <a:t>02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Problemática</a:t>
            </a:r>
            <a:endParaRPr lang="pt-PT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"/>
          <p:cNvSpPr/>
          <p:nvPr/>
        </p:nvSpPr>
        <p:spPr>
          <a:xfrm>
            <a:off x="640080" y="1703160"/>
            <a:ext cx="5256000" cy="1598400"/>
          </a:xfrm>
          <a:prstGeom prst="roundRect">
            <a:avLst>
              <a:gd name="adj" fmla="val 5714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640080" y="1703160"/>
            <a:ext cx="455400" cy="455400"/>
          </a:xfrm>
          <a:prstGeom prst="roundRect">
            <a:avLst>
              <a:gd name="adj" fmla="val 220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896040" y="197496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896040" y="2560320"/>
            <a:ext cx="4753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896040" y="2907720"/>
            <a:ext cx="475308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6203160" y="1737360"/>
            <a:ext cx="5256000" cy="1598400"/>
          </a:xfrm>
          <a:prstGeom prst="roundRect">
            <a:avLst>
              <a:gd name="adj" fmla="val 5714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8"/>
          <p:cNvSpPr/>
          <p:nvPr/>
        </p:nvSpPr>
        <p:spPr>
          <a:xfrm>
            <a:off x="6203160" y="1737360"/>
            <a:ext cx="455400" cy="455400"/>
          </a:xfrm>
          <a:prstGeom prst="roundRect">
            <a:avLst>
              <a:gd name="adj" fmla="val 220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6428160" y="197496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6428160" y="2560320"/>
            <a:ext cx="4753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6428160" y="2547720"/>
            <a:ext cx="475308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Registos em papel, folhas de cálculo dispersas ou complexas, difíceis de manter atualizados.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2"/>
          <p:cNvSpPr/>
          <p:nvPr/>
        </p:nvSpPr>
        <p:spPr>
          <a:xfrm>
            <a:off x="640080" y="3611880"/>
            <a:ext cx="5256000" cy="1598400"/>
          </a:xfrm>
          <a:prstGeom prst="roundRect">
            <a:avLst>
              <a:gd name="adj" fmla="val 5714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640080" y="3611880"/>
            <a:ext cx="455400" cy="455400"/>
          </a:xfrm>
          <a:prstGeom prst="roundRect">
            <a:avLst>
              <a:gd name="adj" fmla="val 220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3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896040" y="384948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1096920" y="3703320"/>
            <a:ext cx="4753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Ausência de visualização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896040" y="4782240"/>
            <a:ext cx="475308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7"/>
          <p:cNvSpPr/>
          <p:nvPr/>
        </p:nvSpPr>
        <p:spPr>
          <a:xfrm>
            <a:off x="6172200" y="3600000"/>
            <a:ext cx="5256000" cy="1598400"/>
          </a:xfrm>
          <a:prstGeom prst="roundRect">
            <a:avLst>
              <a:gd name="adj" fmla="val 5714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8"/>
          <p:cNvSpPr/>
          <p:nvPr/>
        </p:nvSpPr>
        <p:spPr>
          <a:xfrm>
            <a:off x="6172200" y="3625560"/>
            <a:ext cx="455400" cy="455400"/>
          </a:xfrm>
          <a:prstGeom prst="roundRect">
            <a:avLst>
              <a:gd name="adj" fmla="val 220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4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428160" y="384948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6765480" y="3600000"/>
            <a:ext cx="4753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Histórico pouco acessível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1"/>
          <p:cNvSpPr/>
          <p:nvPr/>
        </p:nvSpPr>
        <p:spPr>
          <a:xfrm>
            <a:off x="6428160" y="4782240"/>
            <a:ext cx="475308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2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3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640080" y="1737360"/>
            <a:ext cx="4384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 1</a:t>
            </a:r>
            <a:endParaRPr lang="pt-PT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6300000" y="1737360"/>
            <a:ext cx="29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2</a:t>
            </a:r>
            <a:endParaRPr lang="pt-PT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1194120" y="1713960"/>
            <a:ext cx="168444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Falta de controlo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-6120000" y="4038840"/>
            <a:ext cx="5898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640080" y="2443320"/>
            <a:ext cx="5256000" cy="85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-1440000" y="2789640"/>
            <a:ext cx="5396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3060000" y="-450000"/>
            <a:ext cx="5396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640080" y="2418840"/>
            <a:ext cx="52560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PT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Muitas quanto ou onde gastam o seu dinheiro todos os meses, e há casos onde não sabem sequer o quanto ganham.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6840000" y="1800000"/>
            <a:ext cx="230796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Métodos pouco práticos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234120" y="4500000"/>
            <a:ext cx="5194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Dificuldade em pesquisar ou filtrar movimentações antigas de forma rápida.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720000" y="4398840"/>
            <a:ext cx="519408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Dificuldade em pesquisar ou filtrar movimentações antigas de forma rápida ou ate mesmo de visualizar as transações de forma mais concreta.</a:t>
            </a:r>
            <a:endParaRPr lang="pt-PT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6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03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Objetivo Geral</a:t>
            </a:r>
            <a:endParaRPr lang="pt-PT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"/>
          <p:cNvSpPr/>
          <p:nvPr/>
        </p:nvSpPr>
        <p:spPr>
          <a:xfrm>
            <a:off x="1280160" y="2468880"/>
            <a:ext cx="9599400" cy="21927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0">
            <a:noFill/>
          </a:ln>
          <a:effectLst>
            <a:outerShdw algn="bl" blurRad="12708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1737360" y="2697480"/>
            <a:ext cx="868500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lang="en-US" sz="19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Desenvolver uma aplicação desktop em Python, com interface gráfica em Flet e base de dados local em SQLite, que permita a gestão simples e visual das finanças pessoais do utilizador.</a:t>
            </a:r>
            <a:endParaRPr lang="pt-PT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highlight>
                  <a:srgbClr val="5983b0"/>
                </a:highlight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4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04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Objetivos Específicos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640080" y="1691640"/>
            <a:ext cx="3518640" cy="196416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868680" y="1920240"/>
            <a:ext cx="363960" cy="36396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868680" y="192024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1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868680" y="2404800"/>
            <a:ext cx="3061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Registar movimentos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868680" y="2743200"/>
            <a:ext cx="3061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pt-PT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Adicionar, editar e remover receitas e despesas de forma validada.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4389120" y="1691640"/>
            <a:ext cx="3518640" cy="196416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8"/>
          <p:cNvSpPr/>
          <p:nvPr/>
        </p:nvSpPr>
        <p:spPr>
          <a:xfrm>
            <a:off x="4617720" y="1920240"/>
            <a:ext cx="363960" cy="36396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4617720" y="192024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2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4617720" y="2404800"/>
            <a:ext cx="3061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Persistir os dados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4617720" y="2743200"/>
            <a:ext cx="3061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Armazenar todos os movimentos numa base de dados SQLite local.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2"/>
          <p:cNvSpPr/>
          <p:nvPr/>
        </p:nvSpPr>
        <p:spPr>
          <a:xfrm>
            <a:off x="8138160" y="1691640"/>
            <a:ext cx="3518640" cy="196416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3"/>
          <p:cNvSpPr/>
          <p:nvPr/>
        </p:nvSpPr>
        <p:spPr>
          <a:xfrm>
            <a:off x="8366760" y="1920240"/>
            <a:ext cx="363960" cy="36396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8366760" y="192024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3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5"/>
          <p:cNvSpPr/>
          <p:nvPr/>
        </p:nvSpPr>
        <p:spPr>
          <a:xfrm>
            <a:off x="8366760" y="2404800"/>
            <a:ext cx="3061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Gerar relatórios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8366760" y="2743200"/>
            <a:ext cx="3061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Calcular totais mensais, saldo, maior receita/despesa e categoria mais gasta.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7"/>
          <p:cNvSpPr/>
          <p:nvPr/>
        </p:nvSpPr>
        <p:spPr>
          <a:xfrm>
            <a:off x="640080" y="3886200"/>
            <a:ext cx="3518640" cy="196416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868680" y="4114800"/>
            <a:ext cx="363960" cy="36396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868680" y="411480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4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0"/>
          <p:cNvSpPr/>
          <p:nvPr/>
        </p:nvSpPr>
        <p:spPr>
          <a:xfrm>
            <a:off x="868680" y="4599360"/>
            <a:ext cx="3061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Visualizar graficamente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1"/>
          <p:cNvSpPr/>
          <p:nvPr/>
        </p:nvSpPr>
        <p:spPr>
          <a:xfrm>
            <a:off x="868680" y="4937760"/>
            <a:ext cx="3061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Apresentar gráficos de receitas vs despesas e distribuição por categoria.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"/>
          <p:cNvSpPr/>
          <p:nvPr/>
        </p:nvSpPr>
        <p:spPr>
          <a:xfrm>
            <a:off x="4389120" y="3886200"/>
            <a:ext cx="3518640" cy="196416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3"/>
          <p:cNvSpPr/>
          <p:nvPr/>
        </p:nvSpPr>
        <p:spPr>
          <a:xfrm>
            <a:off x="4617720" y="4114800"/>
            <a:ext cx="363960" cy="36396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4617720" y="411480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5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5"/>
          <p:cNvSpPr/>
          <p:nvPr/>
        </p:nvSpPr>
        <p:spPr>
          <a:xfrm>
            <a:off x="4617720" y="4599360"/>
            <a:ext cx="3061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Pesquisar e filtrar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6"/>
          <p:cNvSpPr/>
          <p:nvPr/>
        </p:nvSpPr>
        <p:spPr>
          <a:xfrm>
            <a:off x="4617720" y="4937760"/>
            <a:ext cx="3061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Localizar movimentações por descrição, tipo, categoria ou período.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7"/>
          <p:cNvSpPr/>
          <p:nvPr/>
        </p:nvSpPr>
        <p:spPr>
          <a:xfrm>
            <a:off x="8138160" y="3886200"/>
            <a:ext cx="3518640" cy="1964160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8"/>
          <p:cNvSpPr/>
          <p:nvPr/>
        </p:nvSpPr>
        <p:spPr>
          <a:xfrm>
            <a:off x="8366760" y="4114800"/>
            <a:ext cx="363960" cy="363960"/>
          </a:xfrm>
          <a:prstGeom prst="roundRect">
            <a:avLst>
              <a:gd name="adj" fmla="val 2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9"/>
          <p:cNvSpPr/>
          <p:nvPr/>
        </p:nvSpPr>
        <p:spPr>
          <a:xfrm>
            <a:off x="8366760" y="4114800"/>
            <a:ext cx="363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6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0"/>
          <p:cNvSpPr/>
          <p:nvPr/>
        </p:nvSpPr>
        <p:spPr>
          <a:xfrm>
            <a:off x="8366760" y="4599360"/>
            <a:ext cx="3061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Visualizar relatorio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1"/>
          <p:cNvSpPr/>
          <p:nvPr/>
        </p:nvSpPr>
        <p:spPr>
          <a:xfrm>
            <a:off x="8366760" y="4937760"/>
            <a:ext cx="3061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Visualização do relatorio mensal em um texto de facil compreensão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2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3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5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05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Solução Proposta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640080" y="1417320"/>
            <a:ext cx="7313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Arquitetura em camadas: dados primeiro, interface por último.</a:t>
            </a:r>
            <a:endParaRPr lang="pt-PT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640080" y="1965960"/>
            <a:ext cx="6307560" cy="656640"/>
          </a:xfrm>
          <a:prstGeom prst="roundRect">
            <a:avLst>
              <a:gd name="adj" fmla="val 12500"/>
            </a:avLst>
          </a:prstGeom>
          <a:solidFill>
            <a:srgbClr val="0d2b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868680" y="1965960"/>
            <a:ext cx="173556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Database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2606040" y="1965960"/>
            <a:ext cx="420444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Ligação SQLite e criação da tabela 'movimentos'.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40080" y="2752200"/>
            <a:ext cx="6307560" cy="656640"/>
          </a:xfrm>
          <a:prstGeom prst="roundRect">
            <a:avLst>
              <a:gd name="adj" fmla="val 12500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868680" y="2752200"/>
            <a:ext cx="173556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Transaction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2606040" y="2752200"/>
            <a:ext cx="420444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Dataclass com validação e mapeamento de dados.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640080" y="3538800"/>
            <a:ext cx="6307560" cy="656640"/>
          </a:xfrm>
          <a:prstGeom prst="roundRect">
            <a:avLst>
              <a:gd name="adj" fmla="val 12500"/>
            </a:avLst>
          </a:prstGeom>
          <a:solidFill>
            <a:srgbClr val="4caf8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0"/>
          <p:cNvSpPr/>
          <p:nvPr/>
        </p:nvSpPr>
        <p:spPr>
          <a:xfrm>
            <a:off x="868680" y="3538800"/>
            <a:ext cx="173556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Repository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2606040" y="3538800"/>
            <a:ext cx="420444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CRUD, pesquisa, filtros e agregações em SQL.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2"/>
          <p:cNvSpPr/>
          <p:nvPr/>
        </p:nvSpPr>
        <p:spPr>
          <a:xfrm>
            <a:off x="640080" y="4325040"/>
            <a:ext cx="6307560" cy="656640"/>
          </a:xfrm>
          <a:prstGeom prst="roundRect">
            <a:avLst>
              <a:gd name="adj" fmla="val 12500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3"/>
          <p:cNvSpPr/>
          <p:nvPr/>
        </p:nvSpPr>
        <p:spPr>
          <a:xfrm>
            <a:off x="868680" y="4325040"/>
            <a:ext cx="173556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Service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4"/>
          <p:cNvSpPr/>
          <p:nvPr/>
        </p:nvSpPr>
        <p:spPr>
          <a:xfrm>
            <a:off x="2606040" y="4325040"/>
            <a:ext cx="420444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Regras de negócio: relatório mensal, cálculos.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5"/>
          <p:cNvSpPr/>
          <p:nvPr/>
        </p:nvSpPr>
        <p:spPr>
          <a:xfrm>
            <a:off x="640080" y="5111640"/>
            <a:ext cx="6307560" cy="656640"/>
          </a:xfrm>
          <a:prstGeom prst="roundRect">
            <a:avLst>
              <a:gd name="adj" fmla="val 12500"/>
            </a:avLst>
          </a:prstGeom>
          <a:solidFill>
            <a:srgbClr val="8fd9b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6"/>
          <p:cNvSpPr/>
          <p:nvPr/>
        </p:nvSpPr>
        <p:spPr>
          <a:xfrm>
            <a:off x="868680" y="5111640"/>
            <a:ext cx="173556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Views (Flet)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7"/>
          <p:cNvSpPr/>
          <p:nvPr/>
        </p:nvSpPr>
        <p:spPr>
          <a:xfrm>
            <a:off x="2606040" y="5111640"/>
            <a:ext cx="420444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Ecrãs: dashboard, movimentações, gráficos.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8"/>
          <p:cNvSpPr/>
          <p:nvPr/>
        </p:nvSpPr>
        <p:spPr>
          <a:xfrm>
            <a:off x="7315200" y="1965960"/>
            <a:ext cx="4204440" cy="42044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9"/>
          <p:cNvSpPr/>
          <p:nvPr/>
        </p:nvSpPr>
        <p:spPr>
          <a:xfrm>
            <a:off x="7589520" y="221292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Principais funcionalidades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0"/>
          <p:cNvSpPr/>
          <p:nvPr/>
        </p:nvSpPr>
        <p:spPr>
          <a:xfrm>
            <a:off x="7635240" y="2807280"/>
            <a:ext cx="80640" cy="80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1"/>
          <p:cNvSpPr/>
          <p:nvPr/>
        </p:nvSpPr>
        <p:spPr>
          <a:xfrm>
            <a:off x="7845480" y="2651760"/>
            <a:ext cx="3564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Dashboard com resumo mensal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2"/>
          <p:cNvSpPr/>
          <p:nvPr/>
        </p:nvSpPr>
        <p:spPr>
          <a:xfrm>
            <a:off x="7635240" y="3310200"/>
            <a:ext cx="80640" cy="80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3"/>
          <p:cNvSpPr/>
          <p:nvPr/>
        </p:nvSpPr>
        <p:spPr>
          <a:xfrm>
            <a:off x="7845480" y="3154680"/>
            <a:ext cx="3564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Registo, edição e remoção de movimentos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4"/>
          <p:cNvSpPr/>
          <p:nvPr/>
        </p:nvSpPr>
        <p:spPr>
          <a:xfrm>
            <a:off x="7635240" y="3813120"/>
            <a:ext cx="80640" cy="80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5"/>
          <p:cNvSpPr/>
          <p:nvPr/>
        </p:nvSpPr>
        <p:spPr>
          <a:xfrm>
            <a:off x="7845480" y="3657600"/>
            <a:ext cx="3564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Relatório mensal detalhado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6"/>
          <p:cNvSpPr/>
          <p:nvPr/>
        </p:nvSpPr>
        <p:spPr>
          <a:xfrm>
            <a:off x="7635240" y="4316040"/>
            <a:ext cx="80640" cy="80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7"/>
          <p:cNvSpPr/>
          <p:nvPr/>
        </p:nvSpPr>
        <p:spPr>
          <a:xfrm>
            <a:off x="7845480" y="4160520"/>
            <a:ext cx="3564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Gráficos de receitas e despesas 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8"/>
          <p:cNvSpPr/>
          <p:nvPr/>
        </p:nvSpPr>
        <p:spPr>
          <a:xfrm>
            <a:off x="7635240" y="4818960"/>
            <a:ext cx="80640" cy="80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9"/>
          <p:cNvSpPr/>
          <p:nvPr/>
        </p:nvSpPr>
        <p:spPr>
          <a:xfrm>
            <a:off x="7845480" y="4663440"/>
            <a:ext cx="3564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150" b="0" u="none" strike="noStrike">
                <a:solidFill>
                  <a:srgbClr val="0d2b2e"/>
                </a:solidFill>
                <a:effectLst/>
                <a:uFillTx/>
                <a:latin typeface="Inter"/>
                <a:ea typeface="Inter"/>
              </a:rPr>
              <a:t>Pesquisa por descrição</a:t>
            </a:r>
            <a:endParaRPr lang="pt-P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0"/>
          <p:cNvSpPr/>
          <p:nvPr/>
        </p:nvSpPr>
        <p:spPr>
          <a:xfrm>
            <a:off x="7635240" y="5321880"/>
            <a:ext cx="80640" cy="80640"/>
          </a:xfr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1"/>
          <p:cNvSpPr/>
          <p:nvPr/>
        </p:nvSpPr>
        <p:spPr>
          <a:xfrm>
            <a:off x="7845480" y="5166360"/>
            <a:ext cx="3564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2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3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6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06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Tecnologias Utilizadas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"/>
          <p:cNvSpPr/>
          <p:nvPr/>
        </p:nvSpPr>
        <p:spPr>
          <a:xfrm>
            <a:off x="640080" y="1737360"/>
            <a:ext cx="2604240" cy="292428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3"/>
          <p:cNvSpPr/>
          <p:nvPr/>
        </p:nvSpPr>
        <p:spPr>
          <a:xfrm>
            <a:off x="960120" y="2057400"/>
            <a:ext cx="638280" cy="638280"/>
          </a:xfrm>
          <a:prstGeom prst="roundRect">
            <a:avLst>
              <a:gd name="adj" fmla="val 22857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"/>
          <p:cNvSpPr/>
          <p:nvPr/>
        </p:nvSpPr>
        <p:spPr>
          <a:xfrm>
            <a:off x="914400" y="2926080"/>
            <a:ext cx="2055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Python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5"/>
          <p:cNvSpPr/>
          <p:nvPr/>
        </p:nvSpPr>
        <p:spPr>
          <a:xfrm>
            <a:off x="914400" y="3291840"/>
            <a:ext cx="20556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Linguagem base de todo o sistema, orientação a objetos e dataclasses.</a:t>
            </a: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6"/>
          <p:cNvSpPr/>
          <p:nvPr/>
        </p:nvSpPr>
        <p:spPr>
          <a:xfrm>
            <a:off x="3474720" y="1737360"/>
            <a:ext cx="2604240" cy="292428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7"/>
          <p:cNvSpPr/>
          <p:nvPr/>
        </p:nvSpPr>
        <p:spPr>
          <a:xfrm>
            <a:off x="3794760" y="2057400"/>
            <a:ext cx="638280" cy="638280"/>
          </a:xfrm>
          <a:prstGeom prst="roundRect">
            <a:avLst>
              <a:gd name="adj" fmla="val 22857"/>
            </a:avLst>
          </a:prstGeom>
          <a:solidFill>
            <a:srgbClr val="4caf8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8"/>
          <p:cNvSpPr/>
          <p:nvPr/>
        </p:nvSpPr>
        <p:spPr>
          <a:xfrm>
            <a:off x="3749040" y="2926080"/>
            <a:ext cx="2055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Flet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3749040" y="3291840"/>
            <a:ext cx="20556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Framework para a interface gráfica de secretária, em Python puro.</a:t>
            </a: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0"/>
          <p:cNvSpPr/>
          <p:nvPr/>
        </p:nvSpPr>
        <p:spPr>
          <a:xfrm>
            <a:off x="6309360" y="1737360"/>
            <a:ext cx="2604240" cy="292428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1"/>
          <p:cNvSpPr/>
          <p:nvPr/>
        </p:nvSpPr>
        <p:spPr>
          <a:xfrm>
            <a:off x="6629400" y="2057400"/>
            <a:ext cx="638280" cy="638280"/>
          </a:xfrm>
          <a:prstGeom prst="roundRect">
            <a:avLst>
              <a:gd name="adj" fmla="val 22857"/>
            </a:avLst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6583680" y="2926080"/>
            <a:ext cx="2055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SQLite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6583680" y="3291840"/>
            <a:ext cx="20556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Base de dados relacional local, sem servidor externo.</a:t>
            </a: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4"/>
          <p:cNvSpPr/>
          <p:nvPr/>
        </p:nvSpPr>
        <p:spPr>
          <a:xfrm>
            <a:off x="9144000" y="1737360"/>
            <a:ext cx="2604240" cy="292428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5"/>
          <p:cNvSpPr/>
          <p:nvPr/>
        </p:nvSpPr>
        <p:spPr>
          <a:xfrm>
            <a:off x="9464040" y="2057400"/>
            <a:ext cx="638280" cy="638280"/>
          </a:xfrm>
          <a:prstGeom prst="roundRect">
            <a:avLst>
              <a:gd name="adj" fmla="val 22857"/>
            </a:avLst>
          </a:prstGeom>
          <a:solidFill>
            <a:srgbClr val="1f6f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6"/>
          <p:cNvSpPr/>
          <p:nvPr/>
        </p:nvSpPr>
        <p:spPr>
          <a:xfrm>
            <a:off x="9418320" y="2926080"/>
            <a:ext cx="2055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Matplotlib</a:t>
            </a:r>
            <a:endParaRPr lang="pt-P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7"/>
          <p:cNvSpPr/>
          <p:nvPr/>
        </p:nvSpPr>
        <p:spPr>
          <a:xfrm>
            <a:off x="9418320" y="3291840"/>
            <a:ext cx="20556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Geração dos gráficos financeiros (barras e circular).</a:t>
            </a: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8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9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7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28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07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4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Perspetivas Futuras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5"/>
          <p:cNvSpPr/>
          <p:nvPr/>
        </p:nvSpPr>
        <p:spPr>
          <a:xfrm>
            <a:off x="640080" y="1417320"/>
            <a:ext cx="7313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2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Melhorias identificadas e documentadas para depois do MVP.</a:t>
            </a:r>
            <a:endParaRPr lang="pt-PT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1"/>
          <p:cNvSpPr/>
          <p:nvPr/>
        </p:nvSpPr>
        <p:spPr>
          <a:xfrm>
            <a:off x="640080" y="1965960"/>
            <a:ext cx="2604240" cy="32443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6"/>
          <p:cNvSpPr/>
          <p:nvPr/>
        </p:nvSpPr>
        <p:spPr>
          <a:xfrm>
            <a:off x="868680" y="2148840"/>
            <a:ext cx="1369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400" b="1" u="none" strike="noStrike">
                <a:solidFill>
                  <a:srgbClr val="bfe3d1"/>
                </a:solidFill>
                <a:effectLst/>
                <a:uFillTx/>
                <a:latin typeface="Poppins"/>
                <a:ea typeface="Poppins"/>
              </a:rPr>
              <a:t>01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57"/>
          <p:cNvSpPr/>
          <p:nvPr/>
        </p:nvSpPr>
        <p:spPr>
          <a:xfrm>
            <a:off x="868680" y="2697480"/>
            <a:ext cx="2147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Concluir as Views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58"/>
          <p:cNvSpPr/>
          <p:nvPr/>
        </p:nvSpPr>
        <p:spPr>
          <a:xfrm>
            <a:off x="868680" y="3154680"/>
            <a:ext cx="2147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pt-PT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Finalizar todos os ecrãs em Flet, ligados à lógica de negócio já pronta.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2"/>
          <p:cNvSpPr/>
          <p:nvPr/>
        </p:nvSpPr>
        <p:spPr>
          <a:xfrm>
            <a:off x="3474720" y="1965960"/>
            <a:ext cx="2604240" cy="32443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9"/>
          <p:cNvSpPr/>
          <p:nvPr/>
        </p:nvSpPr>
        <p:spPr>
          <a:xfrm>
            <a:off x="3703320" y="2148840"/>
            <a:ext cx="1369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400" b="1" u="none" strike="noStrike">
                <a:solidFill>
                  <a:srgbClr val="bfe3d1"/>
                </a:solidFill>
                <a:effectLst/>
                <a:uFillTx/>
                <a:latin typeface="Poppins"/>
                <a:ea typeface="Poppins"/>
              </a:rPr>
              <a:t>02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0"/>
          <p:cNvSpPr/>
          <p:nvPr/>
        </p:nvSpPr>
        <p:spPr>
          <a:xfrm>
            <a:off x="3703320" y="2697480"/>
            <a:ext cx="2147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Normalizar Categorias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1"/>
          <p:cNvSpPr/>
          <p:nvPr/>
        </p:nvSpPr>
        <p:spPr>
          <a:xfrm>
            <a:off x="3703320" y="3154680"/>
            <a:ext cx="2147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pt-PT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Criar tabela 'categorias' própria, com chave estrangeira e JOIN.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33"/>
          <p:cNvSpPr/>
          <p:nvPr/>
        </p:nvSpPr>
        <p:spPr>
          <a:xfrm>
            <a:off x="6309360" y="1965960"/>
            <a:ext cx="2604240" cy="32443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62"/>
          <p:cNvSpPr/>
          <p:nvPr/>
        </p:nvSpPr>
        <p:spPr>
          <a:xfrm>
            <a:off x="6537960" y="2148840"/>
            <a:ext cx="1369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400" b="1" u="none" strike="noStrike">
                <a:solidFill>
                  <a:srgbClr val="bfe3d1"/>
                </a:solidFill>
                <a:effectLst/>
                <a:uFillTx/>
                <a:latin typeface="Poppins"/>
                <a:ea typeface="Poppins"/>
              </a:rPr>
              <a:t>03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63"/>
          <p:cNvSpPr/>
          <p:nvPr/>
        </p:nvSpPr>
        <p:spPr>
          <a:xfrm>
            <a:off x="6537960" y="2697480"/>
            <a:ext cx="2147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Filtro Combinado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64"/>
          <p:cNvSpPr/>
          <p:nvPr/>
        </p:nvSpPr>
        <p:spPr>
          <a:xfrm>
            <a:off x="6537960" y="3154680"/>
            <a:ext cx="2147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pt-PT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Implementar filtro dinâmico por múltiplos critérios em simultâneo.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34"/>
          <p:cNvSpPr/>
          <p:nvPr/>
        </p:nvSpPr>
        <p:spPr>
          <a:xfrm>
            <a:off x="9144000" y="1965960"/>
            <a:ext cx="2604240" cy="32443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65"/>
          <p:cNvSpPr/>
          <p:nvPr/>
        </p:nvSpPr>
        <p:spPr>
          <a:xfrm>
            <a:off x="9372600" y="2148840"/>
            <a:ext cx="1369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400" b="1" u="none" strike="noStrike">
                <a:solidFill>
                  <a:srgbClr val="bfe3d1"/>
                </a:solidFill>
                <a:effectLst/>
                <a:uFillTx/>
                <a:latin typeface="Poppins"/>
                <a:ea typeface="Poppins"/>
              </a:rPr>
              <a:t>04</a:t>
            </a:r>
            <a:endParaRPr lang="pt-P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6"/>
          <p:cNvSpPr/>
          <p:nvPr/>
        </p:nvSpPr>
        <p:spPr>
          <a:xfrm>
            <a:off x="9372600" y="2697480"/>
            <a:ext cx="2147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Configurações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67"/>
          <p:cNvSpPr/>
          <p:nvPr/>
        </p:nvSpPr>
        <p:spPr>
          <a:xfrm>
            <a:off x="9372600" y="3154680"/>
            <a:ext cx="21470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pt-PT" sz="105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Adicionar um menu configurações que permite fazer alterações na estrutura visual e na apresentação dos dados.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8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69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8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34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07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35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Demonstração da user view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5"/>
          <p:cNvSpPr/>
          <p:nvPr/>
        </p:nvSpPr>
        <p:spPr>
          <a:xfrm rot="5429400">
            <a:off x="883800" y="1899720"/>
            <a:ext cx="2674080" cy="3664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7"/>
          <p:cNvSpPr/>
          <p:nvPr/>
        </p:nvSpPr>
        <p:spPr>
          <a:xfrm>
            <a:off x="597600" y="2563560"/>
            <a:ext cx="220500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Dashboard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8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49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8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"/>
          <p:cNvPicPr/>
          <p:nvPr/>
        </p:nvPicPr>
        <p:blipFill>
          <a:blip r:embed="rId1"/>
          <a:stretch/>
        </p:blipFill>
        <p:spPr>
          <a:xfrm>
            <a:off x="586440" y="3144600"/>
            <a:ext cx="3257280" cy="176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Shape 16"/>
          <p:cNvSpPr/>
          <p:nvPr/>
        </p:nvSpPr>
        <p:spPr>
          <a:xfrm rot="5427600">
            <a:off x="4651560" y="1987920"/>
            <a:ext cx="2674080" cy="35035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9"/>
          <p:cNvSpPr/>
          <p:nvPr/>
        </p:nvSpPr>
        <p:spPr>
          <a:xfrm rot="5428800">
            <a:off x="8394120" y="2021400"/>
            <a:ext cx="2674440" cy="3534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0"/>
          <p:cNvSpPr/>
          <p:nvPr/>
        </p:nvSpPr>
        <p:spPr>
          <a:xfrm>
            <a:off x="4406040" y="2608920"/>
            <a:ext cx="220464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 Adicionar movimentos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51"/>
          <p:cNvSpPr/>
          <p:nvPr/>
        </p:nvSpPr>
        <p:spPr>
          <a:xfrm>
            <a:off x="8132040" y="2608560"/>
            <a:ext cx="220464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Categorias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"/>
          <p:cNvPicPr/>
          <p:nvPr/>
        </p:nvPicPr>
        <p:blipFill>
          <a:blip r:embed="rId2"/>
          <a:stretch/>
        </p:blipFill>
        <p:spPr>
          <a:xfrm>
            <a:off x="4409280" y="3115440"/>
            <a:ext cx="3136320" cy="1784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"/>
          <p:cNvPicPr/>
          <p:nvPr/>
        </p:nvPicPr>
        <p:blipFill>
          <a:blip r:embed="rId3"/>
          <a:stretch/>
        </p:blipFill>
        <p:spPr>
          <a:xfrm>
            <a:off x="8131680" y="3128040"/>
            <a:ext cx="3180960" cy="181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 36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09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21"/>
          <p:cNvSpPr/>
          <p:nvPr/>
        </p:nvSpPr>
        <p:spPr>
          <a:xfrm rot="5429400">
            <a:off x="887040" y="1900440"/>
            <a:ext cx="2672640" cy="3662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39"/>
          <p:cNvSpPr/>
          <p:nvPr/>
        </p:nvSpPr>
        <p:spPr>
          <a:xfrm>
            <a:off x="600480" y="2563560"/>
            <a:ext cx="220392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Charts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40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41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8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5"/>
          <p:cNvSpPr/>
          <p:nvPr/>
        </p:nvSpPr>
        <p:spPr>
          <a:xfrm rot="5427600">
            <a:off x="4651560" y="1988640"/>
            <a:ext cx="2672640" cy="3501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29"/>
          <p:cNvSpPr/>
          <p:nvPr/>
        </p:nvSpPr>
        <p:spPr>
          <a:xfrm rot="5428800">
            <a:off x="8392680" y="2022120"/>
            <a:ext cx="2673000" cy="3533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42"/>
          <p:cNvSpPr/>
          <p:nvPr/>
        </p:nvSpPr>
        <p:spPr>
          <a:xfrm>
            <a:off x="4406760" y="2608920"/>
            <a:ext cx="220356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Movimentações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43"/>
          <p:cNvSpPr/>
          <p:nvPr/>
        </p:nvSpPr>
        <p:spPr>
          <a:xfrm>
            <a:off x="8130960" y="2608560"/>
            <a:ext cx="220356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Relatório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5" name=""/>
          <p:cNvPicPr/>
          <p:nvPr/>
        </p:nvPicPr>
        <p:blipFill>
          <a:blip r:embed="rId1"/>
          <a:stretch/>
        </p:blipFill>
        <p:spPr>
          <a:xfrm>
            <a:off x="529920" y="3116880"/>
            <a:ext cx="3257280" cy="179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"/>
          <p:cNvPicPr/>
          <p:nvPr/>
        </p:nvPicPr>
        <p:blipFill>
          <a:blip r:embed="rId2"/>
          <a:stretch/>
        </p:blipFill>
        <p:spPr>
          <a:xfrm>
            <a:off x="4337640" y="3118320"/>
            <a:ext cx="3256200" cy="180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7" name=""/>
          <p:cNvPicPr/>
          <p:nvPr/>
        </p:nvPicPr>
        <p:blipFill>
          <a:blip r:embed="rId3"/>
          <a:stretch/>
        </p:blipFill>
        <p:spPr>
          <a:xfrm>
            <a:off x="8083440" y="3210840"/>
            <a:ext cx="3249360" cy="174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38"/>
          <p:cNvSpPr/>
          <p:nvPr/>
        </p:nvSpPr>
        <p:spPr>
          <a:xfrm>
            <a:off x="64044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Demonstração da user view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53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07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70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Demonstração da admin view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36"/>
          <p:cNvSpPr/>
          <p:nvPr/>
        </p:nvSpPr>
        <p:spPr>
          <a:xfrm rot="5429400">
            <a:off x="883800" y="1899720"/>
            <a:ext cx="2674080" cy="3664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71"/>
          <p:cNvSpPr/>
          <p:nvPr/>
        </p:nvSpPr>
        <p:spPr>
          <a:xfrm>
            <a:off x="597600" y="2563560"/>
            <a:ext cx="220500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Dashboard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72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73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8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37"/>
          <p:cNvSpPr/>
          <p:nvPr/>
        </p:nvSpPr>
        <p:spPr>
          <a:xfrm rot="5427600">
            <a:off x="4651560" y="1987920"/>
            <a:ext cx="2674080" cy="35035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8"/>
          <p:cNvSpPr/>
          <p:nvPr/>
        </p:nvSpPr>
        <p:spPr>
          <a:xfrm rot="5428800">
            <a:off x="8394120" y="2021400"/>
            <a:ext cx="2674440" cy="3534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74"/>
          <p:cNvSpPr/>
          <p:nvPr/>
        </p:nvSpPr>
        <p:spPr>
          <a:xfrm>
            <a:off x="4406040" y="2608920"/>
            <a:ext cx="31903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Movimento do utilizadores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5"/>
          <p:cNvSpPr/>
          <p:nvPr/>
        </p:nvSpPr>
        <p:spPr>
          <a:xfrm>
            <a:off x="8132040" y="2608560"/>
            <a:ext cx="220464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Graficos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"/>
          <p:cNvPicPr/>
          <p:nvPr/>
        </p:nvPicPr>
        <p:blipFill>
          <a:blip r:embed="rId1"/>
          <a:stretch/>
        </p:blipFill>
        <p:spPr>
          <a:xfrm>
            <a:off x="646560" y="3082680"/>
            <a:ext cx="3136320" cy="179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0" name=""/>
          <p:cNvPicPr/>
          <p:nvPr/>
        </p:nvPicPr>
        <p:blipFill>
          <a:blip r:embed="rId2"/>
          <a:stretch/>
        </p:blipFill>
        <p:spPr>
          <a:xfrm>
            <a:off x="4406040" y="3076560"/>
            <a:ext cx="3136320" cy="179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"/>
          <p:cNvPicPr/>
          <p:nvPr/>
        </p:nvPicPr>
        <p:blipFill>
          <a:blip r:embed="rId3"/>
          <a:stretch/>
        </p:blipFill>
        <p:spPr>
          <a:xfrm>
            <a:off x="8187840" y="3076200"/>
            <a:ext cx="3136320" cy="178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76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200" b="1" u="none" spc="99" strike="noStrike">
                <a:solidFill>
                  <a:srgbClr val="1f6f63"/>
                </a:solidFill>
                <a:effectLst/>
                <a:uFillTx/>
                <a:latin typeface="Inter"/>
                <a:ea typeface="Inter"/>
              </a:rPr>
              <a:t>07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77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28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Demonstração da admin view</a:t>
            </a:r>
            <a:endParaRPr lang="pt-P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39"/>
          <p:cNvSpPr/>
          <p:nvPr/>
        </p:nvSpPr>
        <p:spPr>
          <a:xfrm rot="5429400">
            <a:off x="1450080" y="1588680"/>
            <a:ext cx="3177360" cy="4353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78"/>
          <p:cNvSpPr/>
          <p:nvPr/>
        </p:nvSpPr>
        <p:spPr>
          <a:xfrm>
            <a:off x="1054800" y="2322000"/>
            <a:ext cx="261972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Gerir utilizadores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9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80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8</a:t>
            </a:r>
            <a:endParaRPr lang="pt-P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0"/>
          <p:cNvSpPr/>
          <p:nvPr/>
        </p:nvSpPr>
        <p:spPr>
          <a:xfrm rot="5428800">
            <a:off x="6988680" y="1671480"/>
            <a:ext cx="3177000" cy="41626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81"/>
          <p:cNvSpPr/>
          <p:nvPr/>
        </p:nvSpPr>
        <p:spPr>
          <a:xfrm>
            <a:off x="6695280" y="2328480"/>
            <a:ext cx="2619360" cy="55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13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 Adicionar movimentos</a:t>
            </a:r>
            <a:endParaRPr lang="pt-P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"/>
          <p:cNvPicPr/>
          <p:nvPr/>
        </p:nvPicPr>
        <p:blipFill>
          <a:blip r:embed="rId1"/>
          <a:stretch/>
        </p:blipFill>
        <p:spPr>
          <a:xfrm>
            <a:off x="1072440" y="3067560"/>
            <a:ext cx="3869640" cy="209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1" name=""/>
          <p:cNvPicPr/>
          <p:nvPr/>
        </p:nvPicPr>
        <p:blipFill>
          <a:blip r:embed="rId2"/>
          <a:stretch/>
        </p:blipFill>
        <p:spPr>
          <a:xfrm>
            <a:off x="6702120" y="3033360"/>
            <a:ext cx="3726360" cy="212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 0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4caf87"/>
                </a:solidFill>
                <a:effectLst/>
                <a:uFillTx/>
                <a:latin typeface="Inter"/>
                <a:ea typeface="Inter"/>
              </a:rPr>
              <a:t>10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Conclusão</a:t>
            </a:r>
            <a:endParaRPr lang="pt-PT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"/>
          <p:cNvSpPr/>
          <p:nvPr/>
        </p:nvSpPr>
        <p:spPr>
          <a:xfrm>
            <a:off x="640080" y="1737360"/>
            <a:ext cx="10239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O desenvolvimento do Personal Finance Manager permitiu aplicar, de forma prática, conceitos fundamentais de programação orientada a objetos, modelação de bases de dados e construção de interfaces gráficas em Python.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640080" y="2606040"/>
            <a:ext cx="102394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A arquitetura em camadas construída garantiu um desenvolvimento organizado e sustentável e deixou claramente documentadas as decisões tomadas e as melhorias a realizar no futuro.</a:t>
            </a:r>
            <a:endParaRPr lang="pt-PT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4"/>
          <p:cNvSpPr/>
          <p:nvPr/>
        </p:nvSpPr>
        <p:spPr>
          <a:xfrm>
            <a:off x="640080" y="3977640"/>
            <a:ext cx="10239480" cy="1415520"/>
          </a:xfrm>
          <a:prstGeom prst="roundRect">
            <a:avLst>
              <a:gd name="adj" fmla="val 7742"/>
            </a:avLst>
          </a:prstGeom>
          <a:solidFill>
            <a:srgbClr val="133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P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960120" y="4160520"/>
            <a:ext cx="95994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O projeto cumpre os objetivos propostos, entregando uma aplicação funcional de gestão financeira pessoal, com espaço de crescimento bem definido para versões futuras.</a:t>
            </a:r>
            <a:endParaRPr lang="pt-PT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6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7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9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6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44"/>
          <p:cNvSpPr/>
          <p:nvPr/>
        </p:nvSpPr>
        <p:spPr>
          <a:xfrm>
            <a:off x="640080" y="45720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bfe3d1"/>
                </a:solidFill>
                <a:effectLst/>
                <a:uFillTx/>
                <a:latin typeface="Inter"/>
                <a:ea typeface="Inter"/>
              </a:rPr>
              <a:t>11</a:t>
            </a:r>
            <a:endParaRPr lang="pt-PT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45"/>
          <p:cNvSpPr/>
          <p:nvPr/>
        </p:nvSpPr>
        <p:spPr>
          <a:xfrm>
            <a:off x="640080" y="749880"/>
            <a:ext cx="1005660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Poppins"/>
                <a:ea typeface="Poppins"/>
              </a:rPr>
              <a:t>Final</a:t>
            </a:r>
            <a:endParaRPr lang="pt-PT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35"/>
          <p:cNvSpPr/>
          <p:nvPr/>
        </p:nvSpPr>
        <p:spPr>
          <a:xfrm>
            <a:off x="1280160" y="2468880"/>
            <a:ext cx="9599400" cy="21927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0">
            <a:noFill/>
          </a:ln>
          <a:effectLst>
            <a:outerShdw algn="bl" blurRad="12708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46"/>
          <p:cNvSpPr/>
          <p:nvPr/>
        </p:nvSpPr>
        <p:spPr>
          <a:xfrm>
            <a:off x="1737360" y="2697480"/>
            <a:ext cx="868500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lang="en-US" sz="19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Obrigada pela atenção.</a:t>
            </a:r>
            <a:endParaRPr lang="pt-PT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lang="en-US" sz="1900" b="1" u="none" strike="noStrike">
                <a:solidFill>
                  <a:srgbClr val="0d2b2e"/>
                </a:solidFill>
                <a:effectLst/>
                <a:uFillTx/>
                <a:latin typeface="Poppins"/>
                <a:ea typeface="Poppins"/>
              </a:rPr>
              <a:t>Sintam-se a vontade para fazerem perguntas.</a:t>
            </a:r>
            <a:endParaRPr lang="pt-PT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47"/>
          <p:cNvSpPr/>
          <p:nvPr/>
        </p:nvSpPr>
        <p:spPr>
          <a:xfrm>
            <a:off x="457200" y="653796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PT" sz="900" b="0" u="none" strike="noStrike">
                <a:solidFill>
                  <a:srgbClr val="5f6b6a"/>
                </a:solidFill>
                <a:effectLst/>
                <a:highlight>
                  <a:srgbClr val="5983b0"/>
                </a:highlight>
                <a:uFillTx/>
                <a:latin typeface="Inter"/>
                <a:ea typeface="Inter"/>
              </a:rPr>
              <a:t>Personal Finance Manager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52"/>
          <p:cNvSpPr/>
          <p:nvPr/>
        </p:nvSpPr>
        <p:spPr>
          <a:xfrm>
            <a:off x="11521440" y="6537960"/>
            <a:ext cx="45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f6b6a"/>
                </a:solidFill>
                <a:effectLst/>
                <a:uFillTx/>
                <a:latin typeface="Inter"/>
                <a:ea typeface="Inter"/>
              </a:rPr>
              <a:t>4</a:t>
            </a:r>
            <a:endParaRPr lang="pt-PT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280</TotalTime>
  <Application>LibreOffice/25.8.7.3$Linux_X86_64 LibreOffice_project/580$Build-3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2026-08-09T21:25:09Z</dcterms:created>
  <dc:creator>PptxGenJS</dc:creator>
  <dc:description/>
  <dc:language>pt-PT</dc:language>
  <cp:lastModifiedBy/>
  <cp:lastPrinted>2026-08-13T12:07:06Z</cp:lastPrinted>
  <dcterms:modified xsi:type="dcterms:W3CDTF">2026-08-13T12:07:14Z</dcterms:modified>
  <cp:revision>6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